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media/image56.png" ContentType="image/png"/>
  <Override PartName="/ppt/media/image55.png" ContentType="image/png"/>
  <Override PartName="/ppt/media/image54.png" ContentType="image/png"/>
  <Override PartName="/ppt/media/image34.png" ContentType="image/png"/>
  <Override PartName="/ppt/media/image4.png" ContentType="image/png"/>
  <Override PartName="/ppt/media/image16.png" ContentType="image/png"/>
  <Override PartName="/ppt/media/image27.png" ContentType="image/png"/>
  <Override PartName="/ppt/media/image33.png" ContentType="image/png"/>
  <Override PartName="/ppt/media/image3.png" ContentType="image/png"/>
  <Override PartName="/ppt/media/image15.png" ContentType="image/png"/>
  <Override PartName="/ppt/media/image26.png" ContentType="image/png"/>
  <Override PartName="/ppt/media/image14.png" ContentType="image/png"/>
  <Override PartName="/ppt/media/image2.png" ContentType="image/png"/>
  <Override PartName="/ppt/media/image32.png" ContentType="image/png"/>
  <Override PartName="/ppt/media/image25.png" ContentType="image/png"/>
  <Override PartName="/ppt/media/image47.png" ContentType="image/png"/>
  <Override PartName="/ppt/media/image10.png" ContentType="image/png"/>
  <Override PartName="/ppt/media/image1.jpeg" ContentType="image/jpeg"/>
  <Override PartName="/ppt/media/image21.png" ContentType="image/png"/>
  <Override PartName="/ppt/media/image58.png" ContentType="image/png"/>
  <Override PartName="/ppt/media/image61.png" ContentType="image/png"/>
  <Override PartName="/ppt/media/image24.png" ContentType="image/png"/>
  <Override PartName="/ppt/media/image59.png" ContentType="image/png"/>
  <Override PartName="/ppt/media/image22.png" ContentType="image/png"/>
  <Override PartName="/ppt/media/image35.png" ContentType="image/png"/>
  <Override PartName="/ppt/media/image60.png" ContentType="image/png"/>
  <Override PartName="/ppt/media/image23.png" ContentType="image/png"/>
  <Override PartName="/ppt/media/image20.png" ContentType="image/png"/>
  <Override PartName="/ppt/media/image57.png" ContentType="image/png"/>
  <Override PartName="/ppt/media/image28.png" ContentType="image/png"/>
  <Override PartName="/ppt/media/image5.png" ContentType="image/png"/>
  <Override PartName="/ppt/media/image17.png" ContentType="image/png"/>
  <Override PartName="/ppt/media/image29.png" ContentType="image/png"/>
  <Override PartName="/ppt/media/image18.png" ContentType="image/png"/>
  <Override PartName="/ppt/media/image6.png" ContentType="image/png"/>
  <Override PartName="/ppt/media/image36.png" ContentType="image/png"/>
  <Override PartName="/ppt/media/image11.png" ContentType="image/png"/>
  <Override PartName="/ppt/media/image48.png" ContentType="image/png"/>
  <Override PartName="/ppt/media/image50.png" ContentType="image/png"/>
  <Override PartName="/ppt/media/image19.png" ContentType="image/png"/>
  <Override PartName="/ppt/media/image62.jpeg" ContentType="image/jpeg"/>
  <Override PartName="/ppt/media/image7.png" ContentType="image/png"/>
  <Override PartName="/ppt/media/image37.png" ContentType="image/png"/>
  <Override PartName="/ppt/media/image12.png" ContentType="image/png"/>
  <Override PartName="/ppt/media/image49.png" ContentType="image/png"/>
  <Override PartName="/ppt/media/image8.png" ContentType="image/png"/>
  <Override PartName="/ppt/media/image38.png" ContentType="image/png"/>
  <Override PartName="/ppt/media/image13.png" ContentType="image/png"/>
  <Override PartName="/ppt/media/image9.png" ContentType="image/png"/>
  <Override PartName="/ppt/media/image39.png" ContentType="image/png"/>
  <Override PartName="/ppt/media/image30.png" ContentType="image/png"/>
  <Override PartName="/ppt/media/image31.png" ContentType="image/png"/>
  <Override PartName="/ppt/media/image40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51.png" ContentType="image/png"/>
  <Override PartName="/ppt/media/image52.png" ContentType="image/png"/>
  <Override PartName="/ppt/media/image53.png" ContentType="image/png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2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60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19.xml" ContentType="application/vnd.openxmlformats-officedocument.presentationml.slide+xml"/>
  <Override PartName="/ppt/slides/slide61.xml" ContentType="application/vnd.openxmlformats-officedocument.presentationml.slide+xml"/>
  <Override PartName="/ppt/slides/slide21.xml" ContentType="application/vnd.openxmlformats-officedocument.presentationml.slide+xml"/>
  <Override PartName="/ppt/slides/slide58.xml" ContentType="application/vnd.openxmlformats-officedocument.presentationml.slide+xml"/>
  <Override PartName="/ppt/slides/slide22.xml" ContentType="application/vnd.openxmlformats-officedocument.presentationml.slide+xml"/>
  <Override PartName="/ppt/slides/slide59.xml" ContentType="application/vnd.openxmlformats-officedocument.presentationml.slide+xml"/>
  <Override PartName="/ppt/slides/slide66.xml" ContentType="application/vnd.openxmlformats-officedocument.presentationml.slide+xml"/>
  <Override PartName="/ppt/slides/slide29.xml" ContentType="application/vnd.openxmlformats-officedocument.presentationml.slide+xml"/>
  <Override PartName="/ppt/slides/slide65.xml" ContentType="application/vnd.openxmlformats-officedocument.presentationml.slide+xml"/>
  <Override PartName="/ppt/slides/slide28.xml" ContentType="application/vnd.openxmlformats-officedocument.presentationml.slide+xml"/>
  <Override PartName="/ppt/slides/slide64.xml" ContentType="application/vnd.openxmlformats-officedocument.presentationml.slide+xml"/>
  <Override PartName="/ppt/slides/slide27.xml" ContentType="application/vnd.openxmlformats-officedocument.presentationml.slide+xml"/>
  <Override PartName="/ppt/slides/slide63.xml" ContentType="application/vnd.openxmlformats-officedocument.presentationml.slide+xml"/>
  <Override PartName="/ppt/slides/slide26.xml" ContentType="application/vnd.openxmlformats-officedocument.presentationml.slide+xml"/>
  <Override PartName="/ppt/slides/slide23.xml" ContentType="application/vnd.openxmlformats-officedocument.presentationml.slide+xml"/>
  <Override PartName="/ppt/slides/slide62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16.xml" ContentType="application/vnd.openxmlformats-officedocument.presentationml.slide+xml"/>
  <Override PartName="/ppt/slides/slide9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_rels/slide39.xml.rels" ContentType="application/vnd.openxmlformats-package.relationships+xml"/>
  <Override PartName="/ppt/slides/_rels/slide31.xml.rels" ContentType="application/vnd.openxmlformats-package.relationships+xml"/>
  <Override PartName="/ppt/slides/_rels/slide15.xml.rels" ContentType="application/vnd.openxmlformats-package.relationships+xml"/>
  <Override PartName="/ppt/slides/_rels/slide24.xml.rels" ContentType="application/vnd.openxmlformats-package.relationships+xml"/>
  <Override PartName="/ppt/slides/_rels/slide32.xml.rels" ContentType="application/vnd.openxmlformats-package.relationships+xml"/>
  <Override PartName="/ppt/slides/_rels/slide1.xml.rels" ContentType="application/vnd.openxmlformats-package.relationships+xml"/>
  <Override PartName="/ppt/slides/_rels/slide58.xml.rels" ContentType="application/vnd.openxmlformats-package.relationships+xml"/>
  <Override PartName="/ppt/slides/_rels/slide65.xml.rels" ContentType="application/vnd.openxmlformats-package.relationships+xml"/>
  <Override PartName="/ppt/slides/_rels/slide13.xml.rels" ContentType="application/vnd.openxmlformats-package.relationships+xml"/>
  <Override PartName="/ppt/slides/_rels/slide27.xml.rels" ContentType="application/vnd.openxmlformats-package.relationships+xml"/>
  <Override PartName="/ppt/slides/_rels/slide36.xml.rels" ContentType="application/vnd.openxmlformats-package.relationships+xml"/>
  <Override PartName="/ppt/slides/_rels/slide43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21.xml.rels" ContentType="application/vnd.openxmlformats-package.relationships+xml"/>
  <Override PartName="/ppt/slides/_rels/slide17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12.xml.rels" ContentType="application/vnd.openxmlformats-package.relationships+xml"/>
  <Override PartName="/ppt/slides/_rels/slide48.xml.rels" ContentType="application/vnd.openxmlformats-package.relationships+xml"/>
  <Override PartName="/ppt/slides/_rels/slide64.xml.rels" ContentType="application/vnd.openxmlformats-package.relationships+xml"/>
  <Override PartName="/ppt/slides/_rels/slide5.xml.rels" ContentType="application/vnd.openxmlformats-package.relationships+xml"/>
  <Override PartName="/ppt/slides/_rels/slide40.xml.rels" ContentType="application/vnd.openxmlformats-package.relationships+xml"/>
  <Override PartName="/ppt/slides/_rels/slide55.xml.rels" ContentType="application/vnd.openxmlformats-package.relationships+xml"/>
  <Override PartName="/ppt/slides/_rels/slide35.xml.rels" ContentType="application/vnd.openxmlformats-package.relationships+xml"/>
  <Override PartName="/ppt/slides/_rels/slide51.xml.rels" ContentType="application/vnd.openxmlformats-package.relationships+xml"/>
  <Override PartName="/ppt/slides/_rels/slide42.xml.rels" ContentType="application/vnd.openxmlformats-package.relationships+xml"/>
  <Override PartName="/ppt/slides/_rels/slide7.xml.rels" ContentType="application/vnd.openxmlformats-package.relationships+xml"/>
  <Override PartName="/ppt/slides/_rels/slide16.xml.rels" ContentType="application/vnd.openxmlformats-package.relationships+xml"/>
  <Override PartName="/ppt/slides/_rels/slide20.xml.rels" ContentType="application/vnd.openxmlformats-package.relationships+xml"/>
  <Override PartName="/ppt/slides/_rels/slide54.xml.rels" ContentType="application/vnd.openxmlformats-package.relationships+xml"/>
  <Override PartName="/ppt/slides/_rels/slide63.xml.rels" ContentType="application/vnd.openxmlformats-package.relationships+xml"/>
  <Override PartName="/ppt/slides/_rels/slide47.xml.rels" ContentType="application/vnd.openxmlformats-package.relationships+xml"/>
  <Override PartName="/ppt/slides/_rels/slide4.xml.rels" ContentType="application/vnd.openxmlformats-package.relationships+xml"/>
  <Override PartName="/ppt/slides/_rels/slide41.xml.rels" ContentType="application/vnd.openxmlformats-package.relationships+xml"/>
  <Override PartName="/ppt/slides/_rels/slide6.xml.rels" ContentType="application/vnd.openxmlformats-package.relationships+xml"/>
  <Override PartName="/ppt/slides/_rels/slide34.xml.rels" ContentType="application/vnd.openxmlformats-package.relationships+xml"/>
  <Override PartName="/ppt/slides/_rels/slide50.xml.rels" ContentType="application/vnd.openxmlformats-package.relationships+xml"/>
  <Override PartName="/ppt/slides/_rels/slide49.xml.rels" ContentType="application/vnd.openxmlformats-package.relationships+xml"/>
  <Override PartName="/ppt/slides/_rels/slide53.xml.rels" ContentType="application/vnd.openxmlformats-package.relationships+xml"/>
  <Override PartName="/ppt/slides/_rels/slide62.xml.rels" ContentType="application/vnd.openxmlformats-package.relationships+xml"/>
  <Override PartName="/ppt/slides/_rels/slide46.xml.rels" ContentType="application/vnd.openxmlformats-package.relationships+xml"/>
  <Override PartName="/ppt/slides/_rels/slide52.xml.rels" ContentType="application/vnd.openxmlformats-package.relationships+xml"/>
  <Override PartName="/ppt/slides/_rels/slide57.xml.rels" ContentType="application/vnd.openxmlformats-package.relationships+xml"/>
  <Override PartName="/ppt/slides/_rels/slide61.xml.rels" ContentType="application/vnd.openxmlformats-package.relationships+xml"/>
  <Override PartName="/ppt/slides/_rels/slide18.xml.rels" ContentType="application/vnd.openxmlformats-package.relationships+xml"/>
  <Override PartName="/ppt/slides/_rels/slide22.xml.rels" ContentType="application/vnd.openxmlformats-package.relationships+xml"/>
  <Override PartName="/ppt/slides/_rels/slide28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44.xml.rels" ContentType="application/vnd.openxmlformats-package.relationships+xml"/>
  <Override PartName="/ppt/slides/_rels/slide37.xml.rels" ContentType="application/vnd.openxmlformats-package.relationships+xml"/>
  <Override PartName="/ppt/slides/_rels/slide19.xml.rels" ContentType="application/vnd.openxmlformats-package.relationships+xml"/>
  <Override PartName="/ppt/slides/_rels/slide23.xml.rels" ContentType="application/vnd.openxmlformats-package.relationships+xml"/>
  <Override PartName="/ppt/slides/_rels/slide14.xml.rels" ContentType="application/vnd.openxmlformats-package.relationships+xml"/>
  <Override PartName="/ppt/slides/_rels/slide33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8.xml.rels" ContentType="application/vnd.openxmlformats-package.relationships+xml"/>
  <Override PartName="/ppt/slides/_rels/slide45.xml.rels" ContentType="application/vnd.openxmlformats-package.relationships+xml"/>
  <Override PartName="/ppt/slides/_rels/slide66.xml.rels" ContentType="application/vnd.openxmlformats-package.relationships+xml"/>
  <Override PartName="/ppt/slides/_rels/slide56.xml.rels" ContentType="application/vnd.openxmlformats-package.relationships+xml"/>
  <Override PartName="/ppt/slides/_rels/slide60.xml.rels" ContentType="application/vnd.openxmlformats-package.relationships+xml"/>
  <Override PartName="/ppt/slides/_rels/slide25.xml.rels" ContentType="application/vnd.openxmlformats-package.relationships+xml"/>
  <Override PartName="/ppt/slides/_rels/slide59.xml.rels" ContentType="application/vnd.openxmlformats-package.relationships+xml"/>
  <Override PartName="/ppt/slides/_rels/slide10.xml.rels" ContentType="application/vnd.openxmlformats-package.relationships+xml"/>
  <Override PartName="/ppt/slides/slide6.xml" ContentType="application/vnd.openxmlformats-officedocument.presentationml.slide+xml"/>
  <Override PartName="/ppt/slides/slide1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</p:sldIdLst>
  <p:sldSz cx="9144000" cy="51435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952200" y="713160"/>
            <a:ext cx="73785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" name="Google Shape;9;p39" descr=""/>
          <p:cNvPicPr/>
          <p:nvPr/>
        </p:nvPicPr>
        <p:blipFill>
          <a:blip r:embed="rId3"/>
          <a:stretch/>
        </p:blipFill>
        <p:spPr>
          <a:xfrm>
            <a:off x="952200" y="291240"/>
            <a:ext cx="1275480" cy="289800"/>
          </a:xfrm>
          <a:prstGeom prst="rect">
            <a:avLst/>
          </a:prstGeom>
          <a:ln>
            <a:noFill/>
          </a:ln>
        </p:spPr>
      </p:pic>
      <p:sp>
        <p:nvSpPr>
          <p:cNvPr id="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ustomShape 1"/>
          <p:cNvSpPr/>
          <p:nvPr/>
        </p:nvSpPr>
        <p:spPr>
          <a:xfrm>
            <a:off x="1190880" y="4749840"/>
            <a:ext cx="7952400" cy="392400"/>
          </a:xfrm>
          <a:prstGeom prst="rect">
            <a:avLst/>
          </a:prstGeom>
          <a:solidFill>
            <a:srgbClr val="133155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" name="CustomShape 2"/>
          <p:cNvSpPr/>
          <p:nvPr/>
        </p:nvSpPr>
        <p:spPr>
          <a:xfrm>
            <a:off x="0" y="4749840"/>
            <a:ext cx="431640" cy="392400"/>
          </a:xfrm>
          <a:prstGeom prst="rect">
            <a:avLst/>
          </a:prstGeom>
          <a:solidFill>
            <a:srgbClr val="133155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2" name="Google Shape;64;p41" descr=""/>
          <p:cNvPicPr/>
          <p:nvPr/>
        </p:nvPicPr>
        <p:blipFill>
          <a:blip r:embed="rId2"/>
          <a:stretch/>
        </p:blipFill>
        <p:spPr>
          <a:xfrm>
            <a:off x="659160" y="4787640"/>
            <a:ext cx="299520" cy="330840"/>
          </a:xfrm>
          <a:prstGeom prst="rect">
            <a:avLst/>
          </a:prstGeom>
          <a:ln>
            <a:noFill/>
          </a:ln>
        </p:spPr>
      </p:pic>
      <p:sp>
        <p:nvSpPr>
          <p:cNvPr id="43" name="PlaceHolder 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ustomShape 1"/>
          <p:cNvSpPr/>
          <p:nvPr/>
        </p:nvSpPr>
        <p:spPr>
          <a:xfrm>
            <a:off x="866880" y="1685880"/>
            <a:ext cx="74095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3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3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3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3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13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3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13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slideLayout" Target="../slideLayouts/slideLayout13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13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slideLayout" Target="../slideLayouts/slideLayout13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slideLayout" Target="../slideLayouts/slideLayout13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slideLayout" Target="../slideLayouts/slideLayout13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slideLayout" Target="../slideLayouts/slideLayout13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slideLayout" Target="../slideLayouts/slideLayout13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slideLayout" Target="../slideLayouts/slideLayout1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slideLayout" Target="../slideLayouts/slideLayout13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slideLayout" Target="../slideLayouts/slideLayout13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slideLayout" Target="../slideLayouts/slideLayout13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slideLayout" Target="../slideLayouts/slideLayout13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slideLayout" Target="../slideLayouts/slideLayout13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slideLayout" Target="../slideLayouts/slideLayout13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slideLayout" Target="../slideLayouts/slideLayout13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slideLayout" Target="../slideLayouts/slideLayout13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slideLayout" Target="../slideLayouts/slideLayout13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slideLayout" Target="../slideLayouts/slideLayout1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slideLayout" Target="../slideLayouts/slideLayout13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slideLayout" Target="../slideLayouts/slideLayout13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62.jpeg"/><Relationship Id="rId2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1070280" y="1859400"/>
            <a:ext cx="6120360" cy="990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5640" rIns="35640" tIns="35640" bIns="3564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Roboto"/>
                <a:ea typeface="Roboto"/>
              </a:rPr>
              <a:t>Moneris Cloud</a:t>
            </a:r>
            <a:br/>
            <a:r>
              <a:rPr b="0" lang="en-US" sz="2000" spc="-1" strike="noStrike">
                <a:solidFill>
                  <a:srgbClr val="ffffff"/>
                </a:solidFill>
                <a:latin typeface="Roboto"/>
                <a:ea typeface="Roboto"/>
              </a:rPr>
              <a:t>User Manual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1070280" y="2850480"/>
            <a:ext cx="5598720" cy="556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Roboto"/>
                <a:ea typeface="Roboto"/>
              </a:rPr>
              <a:t>By Syncoria– A Silver Partner of Odoo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2" name="CustomShape 3"/>
          <p:cNvSpPr/>
          <p:nvPr/>
        </p:nvSpPr>
        <p:spPr>
          <a:xfrm rot="10800000">
            <a:off x="1104840" y="2763000"/>
            <a:ext cx="994320" cy="7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chemeClr val="lt1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729360" y="267120"/>
            <a:ext cx="7687800" cy="54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434343"/>
                </a:solidFill>
                <a:latin typeface="Roboto"/>
                <a:ea typeface="Roboto"/>
              </a:rPr>
              <a:t>Content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4" name="CustomShape 2"/>
          <p:cNvSpPr/>
          <p:nvPr/>
        </p:nvSpPr>
        <p:spPr>
          <a:xfrm>
            <a:off x="834120" y="688320"/>
            <a:ext cx="7478280" cy="4121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marL="216000" indent="-216000" algn="just">
              <a:lnSpc>
                <a:spcPct val="150000"/>
              </a:lnSpc>
              <a:buClr>
                <a:srgbClr val="15191b"/>
              </a:buClr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Lato"/>
                <a:ea typeface="Lato"/>
              </a:rPr>
              <a:t>Moneris Cloud System Flow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150000"/>
              </a:lnSpc>
              <a:buClr>
                <a:srgbClr val="15191b"/>
              </a:buClr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Raleway"/>
                <a:ea typeface="Raleway"/>
              </a:rPr>
              <a:t>System Configuration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5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Raleway"/>
                <a:ea typeface="Raleway"/>
              </a:rPr>
              <a:t>POS Payment Method Configuration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5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Raleway"/>
                <a:ea typeface="Raleway"/>
              </a:rPr>
              <a:t>Point of Sale Configuration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599"/>
              </a:spcBef>
              <a:buClr>
                <a:srgbClr val="15191b"/>
              </a:buClr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Lato"/>
                <a:ea typeface="Lato"/>
              </a:rPr>
              <a:t>Invoice Configurations for Moneris Cloud</a:t>
            </a:r>
            <a:r>
              <a:rPr b="0" lang="en-US" sz="1600" spc="-1" strike="noStrike">
                <a:solidFill>
                  <a:srgbClr val="000000"/>
                </a:solidFill>
                <a:latin typeface="Raleway"/>
                <a:ea typeface="Raleway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Raleway"/>
                <a:ea typeface="Raleway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599"/>
              </a:spcBef>
              <a:buClr>
                <a:srgbClr val="15191b"/>
              </a:buClr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Raleway"/>
                <a:ea typeface="Raleway"/>
              </a:rPr>
              <a:t>Payment Flow in Odoo Invoice     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599"/>
              </a:spcBef>
              <a:buClr>
                <a:srgbClr val="15191b"/>
              </a:buClr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Lato"/>
                <a:ea typeface="Lato"/>
              </a:rPr>
              <a:t>Payment Flow in Odoo POS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22920" algn="just">
              <a:lnSpc>
                <a:spcPct val="150000"/>
              </a:lnSpc>
              <a:buClr>
                <a:srgbClr val="63495b"/>
              </a:buClr>
              <a:buFont typeface="Raleway"/>
              <a:buChar char="●"/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133200" algn="just">
              <a:lnSpc>
                <a:spcPct val="15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CustomShape 1"/>
          <p:cNvSpPr/>
          <p:nvPr/>
        </p:nvSpPr>
        <p:spPr>
          <a:xfrm>
            <a:off x="575280" y="342720"/>
            <a:ext cx="7687800" cy="534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br/>
            <a:br/>
            <a:br/>
            <a:r>
              <a:rPr b="1" lang="en-US" sz="2400" spc="-1" strike="noStrike">
                <a:solidFill>
                  <a:srgbClr val="434343"/>
                </a:solidFill>
                <a:latin typeface="Roboto"/>
                <a:ea typeface="Roboto"/>
              </a:rPr>
              <a:t>                           </a:t>
            </a:r>
            <a:br/>
            <a:r>
              <a:rPr b="1" lang="en-US" sz="2400" spc="-1" strike="noStrike">
                <a:solidFill>
                  <a:srgbClr val="434343"/>
                </a:solidFill>
                <a:latin typeface="Roboto"/>
                <a:ea typeface="Roboto"/>
              </a:rPr>
              <a:t> </a:t>
            </a:r>
            <a:br/>
            <a:r>
              <a:rPr b="1" lang="en-US" sz="2400" spc="-1" strike="noStrike">
                <a:solidFill>
                  <a:srgbClr val="434343"/>
                </a:solidFill>
                <a:latin typeface="Roboto"/>
                <a:ea typeface="Roboto"/>
              </a:rPr>
              <a:t>	</a:t>
            </a:r>
            <a:r>
              <a:rPr b="1" lang="en-US" sz="2400" spc="-1" strike="noStrike">
                <a:solidFill>
                  <a:srgbClr val="434343"/>
                </a:solidFill>
                <a:latin typeface="Roboto"/>
                <a:ea typeface="Roboto"/>
              </a:rPr>
              <a:t>	</a:t>
            </a:r>
            <a:r>
              <a:rPr b="1" lang="en-US" sz="2400" spc="-1" strike="noStrike">
                <a:solidFill>
                  <a:srgbClr val="434343"/>
                </a:solidFill>
                <a:latin typeface="Roboto"/>
                <a:ea typeface="Roboto"/>
              </a:rPr>
              <a:t>     </a:t>
            </a:r>
            <a:r>
              <a:rPr b="1" lang="en-US" sz="2400" spc="-1" strike="noStrike">
                <a:solidFill>
                  <a:srgbClr val="434343"/>
                </a:solidFill>
                <a:latin typeface="Roboto"/>
                <a:ea typeface="Roboto"/>
              </a:rPr>
              <a:t>Moneris Cloud System Flow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6" name="CustomShape 2"/>
          <p:cNvSpPr/>
          <p:nvPr/>
        </p:nvSpPr>
        <p:spPr>
          <a:xfrm>
            <a:off x="3340800" y="2498400"/>
            <a:ext cx="2156400" cy="153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ustomShape 1"/>
          <p:cNvSpPr/>
          <p:nvPr/>
        </p:nvSpPr>
        <p:spPr>
          <a:xfrm>
            <a:off x="575280" y="342720"/>
            <a:ext cx="7687800" cy="534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br/>
            <a:br/>
            <a:br/>
            <a:r>
              <a:rPr b="1" lang="en-US" sz="2400" spc="-1" strike="noStrike">
                <a:solidFill>
                  <a:srgbClr val="434343"/>
                </a:solidFill>
                <a:latin typeface="Roboto"/>
                <a:ea typeface="Roboto"/>
              </a:rPr>
              <a:t>                           </a:t>
            </a:r>
            <a:br/>
            <a:r>
              <a:rPr b="1" lang="en-US" sz="2400" spc="-1" strike="noStrike">
                <a:solidFill>
                  <a:srgbClr val="434343"/>
                </a:solidFill>
                <a:latin typeface="Roboto"/>
                <a:ea typeface="Roboto"/>
              </a:rPr>
              <a:t> </a:t>
            </a:r>
            <a:br/>
            <a:r>
              <a:rPr b="1" lang="en-US" sz="2400" spc="-1" strike="noStrike">
                <a:solidFill>
                  <a:srgbClr val="434343"/>
                </a:solidFill>
                <a:latin typeface="Roboto"/>
                <a:ea typeface="Roboto"/>
              </a:rPr>
              <a:t>	</a:t>
            </a:r>
            <a:r>
              <a:rPr b="1" lang="en-US" sz="2400" spc="-1" strike="noStrike">
                <a:solidFill>
                  <a:srgbClr val="434343"/>
                </a:solidFill>
                <a:latin typeface="Roboto"/>
                <a:ea typeface="Roboto"/>
              </a:rPr>
              <a:t>	</a:t>
            </a:r>
            <a:r>
              <a:rPr b="1" lang="en-US" sz="2400" spc="-1" strike="noStrike">
                <a:solidFill>
                  <a:srgbClr val="434343"/>
                </a:solidFill>
                <a:latin typeface="Roboto"/>
                <a:ea typeface="Roboto"/>
              </a:rPr>
              <a:t>     </a:t>
            </a:r>
            <a:r>
              <a:rPr b="1" lang="en-US" sz="2400" spc="-1" strike="noStrike">
                <a:solidFill>
                  <a:srgbClr val="434343"/>
                </a:solidFill>
                <a:latin typeface="Roboto"/>
                <a:ea typeface="Roboto"/>
              </a:rPr>
              <a:t>System Flow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8" name="CustomShape 2"/>
          <p:cNvSpPr/>
          <p:nvPr/>
        </p:nvSpPr>
        <p:spPr>
          <a:xfrm>
            <a:off x="3340800" y="2498400"/>
            <a:ext cx="2156400" cy="153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29" name="" descr=""/>
          <p:cNvPicPr/>
          <p:nvPr/>
        </p:nvPicPr>
        <p:blipFill>
          <a:blip r:embed="rId1"/>
          <a:stretch/>
        </p:blipFill>
        <p:spPr>
          <a:xfrm>
            <a:off x="2880" y="1288440"/>
            <a:ext cx="9143640" cy="33112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>
            <a:off x="575280" y="342720"/>
            <a:ext cx="7687800" cy="534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br/>
            <a:br/>
            <a:br/>
            <a:r>
              <a:rPr b="1" lang="en-US" sz="2400" spc="-1" strike="noStrike">
                <a:solidFill>
                  <a:srgbClr val="434343"/>
                </a:solidFill>
                <a:latin typeface="Roboto"/>
                <a:ea typeface="Roboto"/>
              </a:rPr>
              <a:t>                           </a:t>
            </a:r>
            <a:br/>
            <a:r>
              <a:rPr b="1" lang="en-US" sz="2400" spc="-1" strike="noStrike">
                <a:solidFill>
                  <a:srgbClr val="434343"/>
                </a:solidFill>
                <a:latin typeface="Roboto"/>
                <a:ea typeface="Roboto"/>
              </a:rPr>
              <a:t> </a:t>
            </a:r>
            <a:br/>
            <a:r>
              <a:rPr b="1" lang="en-US" sz="2400" spc="-1" strike="noStrike">
                <a:solidFill>
                  <a:srgbClr val="434343"/>
                </a:solidFill>
                <a:latin typeface="Roboto"/>
                <a:ea typeface="Roboto"/>
              </a:rPr>
              <a:t>	</a:t>
            </a:r>
            <a:r>
              <a:rPr b="1" lang="en-US" sz="2400" spc="-1" strike="noStrike">
                <a:solidFill>
                  <a:srgbClr val="434343"/>
                </a:solidFill>
                <a:latin typeface="Roboto"/>
                <a:ea typeface="Roboto"/>
              </a:rPr>
              <a:t>	</a:t>
            </a:r>
            <a:r>
              <a:rPr b="1" lang="en-US" sz="2400" spc="-1" strike="noStrike">
                <a:solidFill>
                  <a:srgbClr val="434343"/>
                </a:solidFill>
                <a:latin typeface="Roboto"/>
                <a:ea typeface="Roboto"/>
              </a:rPr>
              <a:t>     </a:t>
            </a:r>
            <a:r>
              <a:rPr b="1" lang="en-US" sz="2400" spc="-1" strike="noStrike">
                <a:solidFill>
                  <a:srgbClr val="434343"/>
                </a:solidFill>
                <a:latin typeface="Roboto"/>
                <a:ea typeface="Roboto"/>
              </a:rPr>
              <a:t>System Configuration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1" name="CustomShape 2"/>
          <p:cNvSpPr/>
          <p:nvPr/>
        </p:nvSpPr>
        <p:spPr>
          <a:xfrm>
            <a:off x="3340800" y="2498400"/>
            <a:ext cx="2156400" cy="153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CustomShape 1"/>
          <p:cNvSpPr/>
          <p:nvPr/>
        </p:nvSpPr>
        <p:spPr>
          <a:xfrm>
            <a:off x="158040" y="453960"/>
            <a:ext cx="83768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spcBef>
                <a:spcPts val="1599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595959"/>
                </a:solidFill>
                <a:latin typeface="Lato"/>
                <a:ea typeface="Lato"/>
              </a:rPr>
              <a:t>Invoice Configurations for Moneris Cloud</a:t>
            </a:r>
            <a:r>
              <a:rPr b="1" lang="en-US" sz="1800" spc="-1" strike="noStrike">
                <a:solidFill>
                  <a:srgbClr val="15191b"/>
                </a:solidFill>
                <a:latin typeface="Raleway"/>
                <a:ea typeface="Raleway"/>
              </a:rPr>
              <a:t>	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3" name="CustomShape 2"/>
          <p:cNvSpPr/>
          <p:nvPr/>
        </p:nvSpPr>
        <p:spPr>
          <a:xfrm>
            <a:off x="0" y="2406240"/>
            <a:ext cx="4570920" cy="30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Go to Invoicing module.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134" name="" descr=""/>
          <p:cNvPicPr/>
          <p:nvPr/>
        </p:nvPicPr>
        <p:blipFill>
          <a:blip r:embed="rId1"/>
          <a:stretch/>
        </p:blipFill>
        <p:spPr>
          <a:xfrm>
            <a:off x="2883240" y="1281240"/>
            <a:ext cx="6077520" cy="30160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CustomShape 1"/>
          <p:cNvSpPr/>
          <p:nvPr/>
        </p:nvSpPr>
        <p:spPr>
          <a:xfrm>
            <a:off x="158040" y="453960"/>
            <a:ext cx="83768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spcBef>
                <a:spcPts val="1599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595959"/>
                </a:solidFill>
                <a:latin typeface="Lato"/>
                <a:ea typeface="Lato"/>
              </a:rPr>
              <a:t>Invoice Configurations..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6" name="CustomShape 2"/>
          <p:cNvSpPr/>
          <p:nvPr/>
        </p:nvSpPr>
        <p:spPr>
          <a:xfrm>
            <a:off x="182880" y="1525680"/>
            <a:ext cx="4570920" cy="51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Go to Invoicing → Configuration → Journals</a:t>
            </a:r>
            <a:endParaRPr b="0" lang="en-US" sz="1400" spc="-1" strike="noStrike">
              <a:latin typeface="Arial"/>
            </a:endParaRPr>
          </a:p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Click on “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Create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”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137" name="" descr=""/>
          <p:cNvPicPr/>
          <p:nvPr/>
        </p:nvPicPr>
        <p:blipFill>
          <a:blip r:embed="rId1"/>
          <a:stretch/>
        </p:blipFill>
        <p:spPr>
          <a:xfrm>
            <a:off x="91800" y="2194560"/>
            <a:ext cx="8960400" cy="12142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158040" y="453960"/>
            <a:ext cx="83768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spcBef>
                <a:spcPts val="1599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595959"/>
                </a:solidFill>
                <a:latin typeface="Lato"/>
                <a:ea typeface="Lato"/>
              </a:rPr>
              <a:t>Invoice Configurations...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9" name="CustomShape 2"/>
          <p:cNvSpPr/>
          <p:nvPr/>
        </p:nvSpPr>
        <p:spPr>
          <a:xfrm>
            <a:off x="275040" y="1008360"/>
            <a:ext cx="4570920" cy="1155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Add:</a:t>
            </a:r>
            <a:endParaRPr b="0" lang="en-US" sz="1400" spc="-1" strike="noStrike">
              <a:latin typeface="Arial"/>
            </a:endParaRPr>
          </a:p>
          <a:p>
            <a:pPr lvl="1" marL="432000" indent="-215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Journal Name</a:t>
            </a:r>
            <a:endParaRPr b="0" lang="en-US" sz="1400" spc="-1" strike="noStrike">
              <a:latin typeface="Arial"/>
            </a:endParaRPr>
          </a:p>
          <a:p>
            <a:pPr lvl="1" marL="432000" indent="-215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Activate </a:t>
            </a:r>
            <a:br/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“Use Moneris Terminal</a:t>
            </a:r>
            <a:endParaRPr b="0" lang="en-US" sz="1400" spc="-1" strike="noStrike">
              <a:latin typeface="Arial"/>
            </a:endParaRPr>
          </a:p>
          <a:p>
            <a:pPr lvl="1" marL="432000" indent="-215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Select “Bank” as Type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2687760" y="1326960"/>
            <a:ext cx="6377040" cy="29624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CustomShape 1"/>
          <p:cNvSpPr/>
          <p:nvPr/>
        </p:nvSpPr>
        <p:spPr>
          <a:xfrm>
            <a:off x="158040" y="453960"/>
            <a:ext cx="83768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spcBef>
                <a:spcPts val="1599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595959"/>
                </a:solidFill>
                <a:latin typeface="Lato"/>
                <a:ea typeface="Lato"/>
              </a:rPr>
              <a:t>Invoice Configurations....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446400" y="897480"/>
            <a:ext cx="8114400" cy="37695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158040" y="453960"/>
            <a:ext cx="83768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spcBef>
                <a:spcPts val="1599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595959"/>
                </a:solidFill>
                <a:latin typeface="Lato"/>
                <a:ea typeface="Lato"/>
              </a:rPr>
              <a:t>Invoice Configurations(Pair)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44" name="" descr=""/>
          <p:cNvPicPr/>
          <p:nvPr/>
        </p:nvPicPr>
        <p:blipFill>
          <a:blip r:embed="rId1"/>
          <a:stretch/>
        </p:blipFill>
        <p:spPr>
          <a:xfrm>
            <a:off x="548640" y="986400"/>
            <a:ext cx="8046720" cy="37382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CustomShape 1"/>
          <p:cNvSpPr/>
          <p:nvPr/>
        </p:nvSpPr>
        <p:spPr>
          <a:xfrm>
            <a:off x="158040" y="453960"/>
            <a:ext cx="83768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spcBef>
                <a:spcPts val="1599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595959"/>
                </a:solidFill>
                <a:latin typeface="Lato"/>
                <a:ea typeface="Lato"/>
              </a:rPr>
              <a:t>Invoice Configurations(Pair)..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46" name="" descr=""/>
          <p:cNvPicPr/>
          <p:nvPr/>
        </p:nvPicPr>
        <p:blipFill>
          <a:blip r:embed="rId1"/>
          <a:stretch/>
        </p:blipFill>
        <p:spPr>
          <a:xfrm>
            <a:off x="668520" y="1001160"/>
            <a:ext cx="7866360" cy="36543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CustomShape 1"/>
          <p:cNvSpPr/>
          <p:nvPr/>
        </p:nvSpPr>
        <p:spPr>
          <a:xfrm>
            <a:off x="158040" y="453960"/>
            <a:ext cx="83768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spcBef>
                <a:spcPts val="1599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595959"/>
                </a:solidFill>
                <a:latin typeface="Lato"/>
                <a:ea typeface="Lato"/>
              </a:rPr>
              <a:t>Invoice Configurations(Initialization)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48" name="" descr=""/>
          <p:cNvPicPr/>
          <p:nvPr/>
        </p:nvPicPr>
        <p:blipFill>
          <a:blip r:embed="rId1"/>
          <a:stretch/>
        </p:blipFill>
        <p:spPr>
          <a:xfrm>
            <a:off x="914400" y="1001160"/>
            <a:ext cx="7683480" cy="38095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stomShape 1"/>
          <p:cNvSpPr/>
          <p:nvPr/>
        </p:nvSpPr>
        <p:spPr>
          <a:xfrm>
            <a:off x="158040" y="453960"/>
            <a:ext cx="83768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spcBef>
                <a:spcPts val="1599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595959"/>
                </a:solidFill>
                <a:latin typeface="Lato"/>
                <a:ea typeface="Lato"/>
              </a:rPr>
              <a:t>Invoice Configurations(Initialization)..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50" name="" descr=""/>
          <p:cNvPicPr/>
          <p:nvPr/>
        </p:nvPicPr>
        <p:blipFill>
          <a:blip r:embed="rId1"/>
          <a:stretch/>
        </p:blipFill>
        <p:spPr>
          <a:xfrm>
            <a:off x="731520" y="914400"/>
            <a:ext cx="7753680" cy="38260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CustomShape 1"/>
          <p:cNvSpPr/>
          <p:nvPr/>
        </p:nvSpPr>
        <p:spPr>
          <a:xfrm>
            <a:off x="158040" y="453960"/>
            <a:ext cx="83768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spcBef>
                <a:spcPts val="1599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595959"/>
                </a:solidFill>
                <a:latin typeface="Lato"/>
                <a:ea typeface="Lato"/>
              </a:rPr>
              <a:t>Invoice Configurations(Initialization)...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52" name="" descr=""/>
          <p:cNvPicPr/>
          <p:nvPr/>
        </p:nvPicPr>
        <p:blipFill>
          <a:blip r:embed="rId1"/>
          <a:stretch/>
        </p:blipFill>
        <p:spPr>
          <a:xfrm>
            <a:off x="829800" y="914400"/>
            <a:ext cx="7592040" cy="37641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ustomShape 1"/>
          <p:cNvSpPr/>
          <p:nvPr/>
        </p:nvSpPr>
        <p:spPr>
          <a:xfrm>
            <a:off x="158040" y="453960"/>
            <a:ext cx="83768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spcBef>
                <a:spcPts val="1599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595959"/>
                </a:solidFill>
                <a:latin typeface="Lato"/>
                <a:ea typeface="Lato"/>
              </a:rPr>
              <a:t>Invoice Configurations(Unpair)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54" name="" descr=""/>
          <p:cNvPicPr/>
          <p:nvPr/>
        </p:nvPicPr>
        <p:blipFill>
          <a:blip r:embed="rId1"/>
          <a:stretch/>
        </p:blipFill>
        <p:spPr>
          <a:xfrm>
            <a:off x="640080" y="1001160"/>
            <a:ext cx="7686720" cy="35708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CustomShape 1"/>
          <p:cNvSpPr/>
          <p:nvPr/>
        </p:nvSpPr>
        <p:spPr>
          <a:xfrm>
            <a:off x="575280" y="342720"/>
            <a:ext cx="7687800" cy="534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br/>
            <a:br/>
            <a:br/>
            <a:r>
              <a:rPr b="1" lang="en-US" sz="2400" spc="-1" strike="noStrike">
                <a:solidFill>
                  <a:srgbClr val="434343"/>
                </a:solidFill>
                <a:latin typeface="Roboto"/>
                <a:ea typeface="Roboto"/>
              </a:rPr>
              <a:t>                           </a:t>
            </a:r>
            <a:br/>
            <a:r>
              <a:rPr b="1" lang="en-US" sz="2400" spc="-1" strike="noStrike">
                <a:solidFill>
                  <a:srgbClr val="434343"/>
                </a:solidFill>
                <a:latin typeface="Roboto"/>
                <a:ea typeface="Roboto"/>
              </a:rPr>
              <a:t> </a:t>
            </a:r>
            <a:br/>
            <a:r>
              <a:rPr b="1" lang="en-US" sz="2400" spc="-1" strike="noStrike">
                <a:solidFill>
                  <a:srgbClr val="434343"/>
                </a:solidFill>
                <a:latin typeface="Roboto"/>
                <a:ea typeface="Roboto"/>
              </a:rPr>
              <a:t>	</a:t>
            </a:r>
            <a:r>
              <a:rPr b="1" lang="en-US" sz="2400" spc="-1" strike="noStrike">
                <a:solidFill>
                  <a:srgbClr val="434343"/>
                </a:solidFill>
                <a:latin typeface="Roboto"/>
                <a:ea typeface="Roboto"/>
              </a:rPr>
              <a:t>	</a:t>
            </a:r>
            <a:r>
              <a:rPr b="1" lang="en-US" sz="2400" spc="-1" strike="noStrike">
                <a:solidFill>
                  <a:srgbClr val="434343"/>
                </a:solidFill>
                <a:latin typeface="Roboto"/>
                <a:ea typeface="Roboto"/>
              </a:rPr>
              <a:t>     </a:t>
            </a:r>
            <a:r>
              <a:rPr b="1" lang="en-US" sz="2400" spc="-1" strike="noStrike">
                <a:solidFill>
                  <a:srgbClr val="434343"/>
                </a:solidFill>
                <a:latin typeface="Roboto"/>
                <a:ea typeface="Roboto"/>
              </a:rPr>
              <a:t>Invoice Purchase Flow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6" name="CustomShape 2"/>
          <p:cNvSpPr/>
          <p:nvPr/>
        </p:nvSpPr>
        <p:spPr>
          <a:xfrm>
            <a:off x="3340800" y="2498400"/>
            <a:ext cx="2156400" cy="153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CustomShape 1"/>
          <p:cNvSpPr/>
          <p:nvPr/>
        </p:nvSpPr>
        <p:spPr>
          <a:xfrm>
            <a:off x="158040" y="453960"/>
            <a:ext cx="83768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spcBef>
                <a:spcPts val="1599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595959"/>
                </a:solidFill>
                <a:latin typeface="Lato"/>
                <a:ea typeface="Lato"/>
              </a:rPr>
              <a:t>Invoice Purchase Flow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58" name="" descr=""/>
          <p:cNvPicPr/>
          <p:nvPr/>
        </p:nvPicPr>
        <p:blipFill>
          <a:blip r:embed="rId1"/>
          <a:stretch/>
        </p:blipFill>
        <p:spPr>
          <a:xfrm>
            <a:off x="1005840" y="915840"/>
            <a:ext cx="7189560" cy="35647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CustomShape 1"/>
          <p:cNvSpPr/>
          <p:nvPr/>
        </p:nvSpPr>
        <p:spPr>
          <a:xfrm>
            <a:off x="158040" y="453960"/>
            <a:ext cx="83768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spcBef>
                <a:spcPts val="1599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595959"/>
                </a:solidFill>
                <a:latin typeface="Lato"/>
                <a:ea typeface="Lato"/>
              </a:rPr>
              <a:t>Invoice Purchase Flow..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60" name="" descr=""/>
          <p:cNvPicPr/>
          <p:nvPr/>
        </p:nvPicPr>
        <p:blipFill>
          <a:blip r:embed="rId1"/>
          <a:stretch/>
        </p:blipFill>
        <p:spPr>
          <a:xfrm>
            <a:off x="914400" y="1001160"/>
            <a:ext cx="7374240" cy="36561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CustomShape 1"/>
          <p:cNvSpPr/>
          <p:nvPr/>
        </p:nvSpPr>
        <p:spPr>
          <a:xfrm>
            <a:off x="158040" y="453960"/>
            <a:ext cx="83768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spcBef>
                <a:spcPts val="1599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595959"/>
                </a:solidFill>
                <a:latin typeface="Lato"/>
                <a:ea typeface="Lato"/>
              </a:rPr>
              <a:t>Invoice Purchase Flow...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911880" y="1097280"/>
            <a:ext cx="7409160" cy="3441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CustomShape 1"/>
          <p:cNvSpPr/>
          <p:nvPr/>
        </p:nvSpPr>
        <p:spPr>
          <a:xfrm>
            <a:off x="158040" y="453960"/>
            <a:ext cx="83768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spcBef>
                <a:spcPts val="1599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595959"/>
                </a:solidFill>
                <a:latin typeface="Lato"/>
                <a:ea typeface="Lato"/>
              </a:rPr>
              <a:t>Invoice Purchase Flow...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64" name="" descr=""/>
          <p:cNvPicPr/>
          <p:nvPr/>
        </p:nvPicPr>
        <p:blipFill>
          <a:blip r:embed="rId1"/>
          <a:stretch/>
        </p:blipFill>
        <p:spPr>
          <a:xfrm>
            <a:off x="637560" y="914400"/>
            <a:ext cx="8140680" cy="37818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CustomShape 1"/>
          <p:cNvSpPr/>
          <p:nvPr/>
        </p:nvSpPr>
        <p:spPr>
          <a:xfrm>
            <a:off x="158040" y="453960"/>
            <a:ext cx="83768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spcBef>
                <a:spcPts val="1599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595959"/>
                </a:solidFill>
                <a:latin typeface="Lato"/>
                <a:ea typeface="Lato"/>
              </a:rPr>
              <a:t>Invoice Purchase Flow...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548640" y="973080"/>
            <a:ext cx="8140680" cy="37818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CustomShape 1"/>
          <p:cNvSpPr/>
          <p:nvPr/>
        </p:nvSpPr>
        <p:spPr>
          <a:xfrm>
            <a:off x="158040" y="453960"/>
            <a:ext cx="83768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spcBef>
                <a:spcPts val="1599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595959"/>
                </a:solidFill>
                <a:latin typeface="Lato"/>
                <a:ea typeface="Lato"/>
              </a:rPr>
              <a:t>Invoice Purchase Flow...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68" name="" descr=""/>
          <p:cNvPicPr/>
          <p:nvPr/>
        </p:nvPicPr>
        <p:blipFill>
          <a:blip r:embed="rId1"/>
          <a:stretch/>
        </p:blipFill>
        <p:spPr>
          <a:xfrm>
            <a:off x="457200" y="888120"/>
            <a:ext cx="8323560" cy="38667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CustomShape 1"/>
          <p:cNvSpPr/>
          <p:nvPr/>
        </p:nvSpPr>
        <p:spPr>
          <a:xfrm>
            <a:off x="158040" y="453960"/>
            <a:ext cx="83768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spcBef>
                <a:spcPts val="1599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595959"/>
                </a:solidFill>
                <a:latin typeface="Lato"/>
                <a:ea typeface="Lato"/>
              </a:rPr>
              <a:t>Invoice Purchase Flow...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70" name="" descr=""/>
          <p:cNvPicPr/>
          <p:nvPr/>
        </p:nvPicPr>
        <p:blipFill>
          <a:blip r:embed="rId1"/>
          <a:stretch/>
        </p:blipFill>
        <p:spPr>
          <a:xfrm>
            <a:off x="640080" y="914400"/>
            <a:ext cx="7866360" cy="36543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ustomShape 1"/>
          <p:cNvSpPr/>
          <p:nvPr/>
        </p:nvSpPr>
        <p:spPr>
          <a:xfrm>
            <a:off x="158040" y="453960"/>
            <a:ext cx="83768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spcBef>
                <a:spcPts val="1599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595959"/>
                </a:solidFill>
                <a:latin typeface="Lato"/>
                <a:ea typeface="Lato"/>
              </a:rPr>
              <a:t>Invoice Purchase Flow...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72" name="" descr=""/>
          <p:cNvPicPr/>
          <p:nvPr/>
        </p:nvPicPr>
        <p:blipFill>
          <a:blip r:embed="rId1"/>
          <a:stretch/>
        </p:blipFill>
        <p:spPr>
          <a:xfrm>
            <a:off x="578520" y="967320"/>
            <a:ext cx="7956360" cy="36961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CustomShape 1"/>
          <p:cNvSpPr/>
          <p:nvPr/>
        </p:nvSpPr>
        <p:spPr>
          <a:xfrm>
            <a:off x="158040" y="453960"/>
            <a:ext cx="83768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spcBef>
                <a:spcPts val="1599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595959"/>
                </a:solidFill>
                <a:latin typeface="Lato"/>
                <a:ea typeface="Lato"/>
              </a:rPr>
              <a:t>Invoice Purchase Flow...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74" name="" descr=""/>
          <p:cNvPicPr/>
          <p:nvPr/>
        </p:nvPicPr>
        <p:blipFill>
          <a:blip r:embed="rId1"/>
          <a:stretch/>
        </p:blipFill>
        <p:spPr>
          <a:xfrm>
            <a:off x="822960" y="947160"/>
            <a:ext cx="7409160" cy="3441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CustomShape 1"/>
          <p:cNvSpPr/>
          <p:nvPr/>
        </p:nvSpPr>
        <p:spPr>
          <a:xfrm>
            <a:off x="158040" y="453960"/>
            <a:ext cx="83768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spcBef>
                <a:spcPts val="1599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595959"/>
                </a:solidFill>
                <a:latin typeface="Lato"/>
                <a:ea typeface="Lato"/>
              </a:rPr>
              <a:t>Invoice Purchase Flow...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76" name="" descr=""/>
          <p:cNvPicPr/>
          <p:nvPr/>
        </p:nvPicPr>
        <p:blipFill>
          <a:blip r:embed="rId1"/>
          <a:stretch/>
        </p:blipFill>
        <p:spPr>
          <a:xfrm>
            <a:off x="731520" y="967320"/>
            <a:ext cx="7956360" cy="36961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CustomShape 1"/>
          <p:cNvSpPr/>
          <p:nvPr/>
        </p:nvSpPr>
        <p:spPr>
          <a:xfrm>
            <a:off x="158040" y="453960"/>
            <a:ext cx="83768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spcBef>
                <a:spcPts val="1599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595959"/>
                </a:solidFill>
                <a:latin typeface="Lato"/>
                <a:ea typeface="Lato"/>
              </a:rPr>
              <a:t>Invoice Purchase Flow...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78" name="" descr=""/>
          <p:cNvPicPr/>
          <p:nvPr/>
        </p:nvPicPr>
        <p:blipFill>
          <a:blip r:embed="rId1"/>
          <a:stretch/>
        </p:blipFill>
        <p:spPr>
          <a:xfrm>
            <a:off x="637560" y="1001160"/>
            <a:ext cx="7866360" cy="36543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CustomShape 1"/>
          <p:cNvSpPr/>
          <p:nvPr/>
        </p:nvSpPr>
        <p:spPr>
          <a:xfrm>
            <a:off x="158040" y="453960"/>
            <a:ext cx="83768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spcBef>
                <a:spcPts val="1599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595959"/>
                </a:solidFill>
                <a:latin typeface="Lato"/>
                <a:ea typeface="Lato"/>
              </a:rPr>
              <a:t>Invoice Purchase Flow...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80" name="" descr=""/>
          <p:cNvPicPr/>
          <p:nvPr/>
        </p:nvPicPr>
        <p:blipFill>
          <a:blip r:embed="rId1"/>
          <a:stretch/>
        </p:blipFill>
        <p:spPr>
          <a:xfrm>
            <a:off x="548640" y="1001160"/>
            <a:ext cx="8049240" cy="37393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CustomShape 1"/>
          <p:cNvSpPr/>
          <p:nvPr/>
        </p:nvSpPr>
        <p:spPr>
          <a:xfrm>
            <a:off x="158040" y="453960"/>
            <a:ext cx="83768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spcBef>
                <a:spcPts val="1599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595959"/>
                </a:solidFill>
                <a:latin typeface="Lato"/>
                <a:ea typeface="Lato"/>
              </a:rPr>
              <a:t>Invoice Purchase Flow...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525240" y="914400"/>
            <a:ext cx="8070120" cy="37490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CustomShape 1"/>
          <p:cNvSpPr/>
          <p:nvPr/>
        </p:nvSpPr>
        <p:spPr>
          <a:xfrm>
            <a:off x="158040" y="453960"/>
            <a:ext cx="83768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spcBef>
                <a:spcPts val="1599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595959"/>
                </a:solidFill>
                <a:latin typeface="Lato"/>
                <a:ea typeface="Lato"/>
              </a:rPr>
              <a:t>Invoice Purchase Flow...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914400" y="1001160"/>
            <a:ext cx="7374240" cy="36561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ustomShape 1"/>
          <p:cNvSpPr/>
          <p:nvPr/>
        </p:nvSpPr>
        <p:spPr>
          <a:xfrm>
            <a:off x="575280" y="342720"/>
            <a:ext cx="7687800" cy="534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br/>
            <a:br/>
            <a:br/>
            <a:r>
              <a:rPr b="1" lang="en-US" sz="2400" spc="-1" strike="noStrike">
                <a:solidFill>
                  <a:srgbClr val="434343"/>
                </a:solidFill>
                <a:latin typeface="Roboto"/>
                <a:ea typeface="Roboto"/>
              </a:rPr>
              <a:t>                           </a:t>
            </a:r>
            <a:br/>
            <a:r>
              <a:rPr b="1" lang="en-US" sz="2400" spc="-1" strike="noStrike">
                <a:solidFill>
                  <a:srgbClr val="434343"/>
                </a:solidFill>
                <a:latin typeface="Roboto"/>
                <a:ea typeface="Roboto"/>
              </a:rPr>
              <a:t> </a:t>
            </a:r>
            <a:br/>
            <a:r>
              <a:rPr b="1" lang="en-US" sz="2400" spc="-1" strike="noStrike">
                <a:solidFill>
                  <a:srgbClr val="434343"/>
                </a:solidFill>
                <a:latin typeface="Roboto"/>
                <a:ea typeface="Roboto"/>
              </a:rPr>
              <a:t>	</a:t>
            </a:r>
            <a:r>
              <a:rPr b="1" lang="en-US" sz="2400" spc="-1" strike="noStrike">
                <a:solidFill>
                  <a:srgbClr val="434343"/>
                </a:solidFill>
                <a:latin typeface="Roboto"/>
                <a:ea typeface="Roboto"/>
              </a:rPr>
              <a:t>	</a:t>
            </a:r>
            <a:r>
              <a:rPr b="1" lang="en-US" sz="2400" spc="-1" strike="noStrike">
                <a:solidFill>
                  <a:srgbClr val="434343"/>
                </a:solidFill>
                <a:latin typeface="Roboto"/>
                <a:ea typeface="Roboto"/>
              </a:rPr>
              <a:t>     </a:t>
            </a:r>
            <a:r>
              <a:rPr b="1" lang="en-US" sz="2400" spc="-1" strike="noStrike">
                <a:solidFill>
                  <a:srgbClr val="434343"/>
                </a:solidFill>
                <a:latin typeface="Roboto"/>
                <a:ea typeface="Roboto"/>
              </a:rPr>
              <a:t>POS Payments Flow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86" name="CustomShape 2"/>
          <p:cNvSpPr/>
          <p:nvPr/>
        </p:nvSpPr>
        <p:spPr>
          <a:xfrm>
            <a:off x="3340800" y="2498400"/>
            <a:ext cx="2156400" cy="153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CustomShape 1"/>
          <p:cNvSpPr/>
          <p:nvPr/>
        </p:nvSpPr>
        <p:spPr>
          <a:xfrm>
            <a:off x="158040" y="453960"/>
            <a:ext cx="83768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5191b"/>
                </a:solidFill>
                <a:latin typeface="Raleway"/>
                <a:ea typeface="Raleway"/>
              </a:rPr>
              <a:t>POS Payment Method Configuration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88" name="Google Shape;191;p4_0" descr="Graphical user interface, application&#10;&#10;Description automatically generated"/>
          <p:cNvPicPr/>
          <p:nvPr/>
        </p:nvPicPr>
        <p:blipFill>
          <a:blip r:embed="rId1"/>
          <a:stretch/>
        </p:blipFill>
        <p:spPr>
          <a:xfrm>
            <a:off x="2962800" y="1230480"/>
            <a:ext cx="5976720" cy="2966040"/>
          </a:xfrm>
          <a:prstGeom prst="rect">
            <a:avLst/>
          </a:prstGeom>
          <a:ln>
            <a:noFill/>
          </a:ln>
          <a:effectLst>
            <a:outerShdw algn="tl" blurRad="292100" dir="2700000" dist="138479" rotWithShape="0">
              <a:srgbClr val="333333">
                <a:alpha val="65000"/>
              </a:srgbClr>
            </a:outerShdw>
          </a:effectLst>
        </p:spPr>
      </p:pic>
      <p:sp>
        <p:nvSpPr>
          <p:cNvPr id="189" name="CustomShape 2"/>
          <p:cNvSpPr/>
          <p:nvPr/>
        </p:nvSpPr>
        <p:spPr>
          <a:xfrm>
            <a:off x="0" y="2406240"/>
            <a:ext cx="4570920" cy="30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Go to Point of Sales module.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CustomShape 1"/>
          <p:cNvSpPr/>
          <p:nvPr/>
        </p:nvSpPr>
        <p:spPr>
          <a:xfrm>
            <a:off x="304920" y="453960"/>
            <a:ext cx="823032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5191b"/>
                </a:solidFill>
                <a:latin typeface="Raleway"/>
                <a:ea typeface="Raleway"/>
              </a:rPr>
              <a:t>POS Payment Method Configuration …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91" name="Google Shape;198;p5" descr="Graphical user interface, application&#10;&#10;Description automatically generated"/>
          <p:cNvPicPr/>
          <p:nvPr/>
        </p:nvPicPr>
        <p:blipFill>
          <a:blip r:embed="rId1"/>
          <a:stretch/>
        </p:blipFill>
        <p:spPr>
          <a:xfrm>
            <a:off x="2552760" y="1179000"/>
            <a:ext cx="6273720" cy="3110400"/>
          </a:xfrm>
          <a:prstGeom prst="rect">
            <a:avLst/>
          </a:prstGeom>
          <a:ln>
            <a:noFill/>
          </a:ln>
          <a:effectLst>
            <a:outerShdw algn="tl" blurRad="292100" dir="2700000" dist="138479" rotWithShape="0">
              <a:srgbClr val="333333">
                <a:alpha val="65000"/>
              </a:srgbClr>
            </a:outerShdw>
          </a:effectLst>
        </p:spPr>
      </p:pic>
      <p:sp>
        <p:nvSpPr>
          <p:cNvPr id="192" name="CustomShape 2"/>
          <p:cNvSpPr/>
          <p:nvPr/>
        </p:nvSpPr>
        <p:spPr>
          <a:xfrm>
            <a:off x="316080" y="2202480"/>
            <a:ext cx="2019600" cy="72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Go to Configuration </a:t>
            </a:r>
            <a:r>
              <a:rPr b="0" lang="en-US" sz="1400" spc="-1" strike="noStrike">
                <a:solidFill>
                  <a:srgbClr val="000000"/>
                </a:solidFill>
                <a:latin typeface="Noto Sans Symbols"/>
                <a:ea typeface="Noto Sans Symbols"/>
              </a:rPr>
              <a:t>🡪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Payment Methods.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CustomShape 1"/>
          <p:cNvSpPr/>
          <p:nvPr/>
        </p:nvSpPr>
        <p:spPr>
          <a:xfrm>
            <a:off x="-801360" y="253800"/>
            <a:ext cx="741960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10476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5191b"/>
                </a:solidFill>
                <a:latin typeface="Raleway"/>
                <a:ea typeface="Raleway"/>
              </a:rPr>
              <a:t>POS Payment Method Configuration …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94" name="CustomShape 2"/>
          <p:cNvSpPr/>
          <p:nvPr/>
        </p:nvSpPr>
        <p:spPr>
          <a:xfrm>
            <a:off x="228240" y="1806120"/>
            <a:ext cx="2231640" cy="149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Now, Click on Create button to create a new Payment Methods.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195" name="Google Shape;206;p6" descr="Graphical user interface, text, application, email&#10;&#10;Description automatically generated"/>
          <p:cNvPicPr/>
          <p:nvPr/>
        </p:nvPicPr>
        <p:blipFill>
          <a:blip r:embed="rId1"/>
          <a:stretch/>
        </p:blipFill>
        <p:spPr>
          <a:xfrm>
            <a:off x="2602440" y="1227240"/>
            <a:ext cx="6312240" cy="3129120"/>
          </a:xfrm>
          <a:prstGeom prst="rect">
            <a:avLst/>
          </a:prstGeom>
          <a:ln>
            <a:noFill/>
          </a:ln>
          <a:effectLst>
            <a:outerShdw algn="tl" blurRad="292100" dir="2700000" dist="138479" rotWithShape="0">
              <a:srgbClr val="333333">
                <a:alpha val="65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CustomShape 1"/>
          <p:cNvSpPr/>
          <p:nvPr/>
        </p:nvSpPr>
        <p:spPr>
          <a:xfrm>
            <a:off x="440280" y="388800"/>
            <a:ext cx="390420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a1a1a"/>
                </a:solidFill>
                <a:latin typeface="Arial"/>
                <a:ea typeface="Arial"/>
              </a:rPr>
              <a:t>Payment Methods (Form View)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97" name="CustomShape 2"/>
          <p:cNvSpPr/>
          <p:nvPr/>
        </p:nvSpPr>
        <p:spPr>
          <a:xfrm>
            <a:off x="238680" y="2035080"/>
            <a:ext cx="2497320" cy="3286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Give a Name for Payment Method.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Select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Moneris Cloud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as Use a Payment Terminal.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</p:txBody>
      </p:sp>
      <p:pic>
        <p:nvPicPr>
          <p:cNvPr id="198" name="Google Shape;213;p7" descr="Graphical user interface, application&#10;&#10;Description automatically generated"/>
          <p:cNvPicPr/>
          <p:nvPr/>
        </p:nvPicPr>
        <p:blipFill>
          <a:blip r:embed="rId1"/>
          <a:stretch/>
        </p:blipFill>
        <p:spPr>
          <a:xfrm>
            <a:off x="2766600" y="1391760"/>
            <a:ext cx="6137640" cy="30427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CustomShape 1"/>
          <p:cNvSpPr/>
          <p:nvPr/>
        </p:nvSpPr>
        <p:spPr>
          <a:xfrm>
            <a:off x="248400" y="453960"/>
            <a:ext cx="82864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a1a1a"/>
                </a:solidFill>
                <a:latin typeface="Roboto"/>
                <a:ea typeface="Roboto"/>
              </a:rPr>
              <a:t>Payment Methods (Form View) …</a:t>
            </a:r>
            <a:br/>
            <a:endParaRPr b="0" lang="en-US" sz="2000" spc="-1" strike="noStrike">
              <a:latin typeface="Arial"/>
            </a:endParaRPr>
          </a:p>
        </p:txBody>
      </p:sp>
      <p:pic>
        <p:nvPicPr>
          <p:cNvPr id="200" name="Google Shape;219;p8" descr="Graphical user interface, application&#10;&#10;Description automatically generated"/>
          <p:cNvPicPr/>
          <p:nvPr/>
        </p:nvPicPr>
        <p:blipFill>
          <a:blip r:embed="rId1"/>
          <a:stretch/>
        </p:blipFill>
        <p:spPr>
          <a:xfrm>
            <a:off x="2562480" y="1259640"/>
            <a:ext cx="6130440" cy="3039120"/>
          </a:xfrm>
          <a:prstGeom prst="rect">
            <a:avLst/>
          </a:prstGeom>
          <a:ln>
            <a:noFill/>
          </a:ln>
        </p:spPr>
      </p:pic>
      <p:sp>
        <p:nvSpPr>
          <p:cNvPr id="201" name="CustomShape 2"/>
          <p:cNvSpPr/>
          <p:nvPr/>
        </p:nvSpPr>
        <p:spPr>
          <a:xfrm>
            <a:off x="248400" y="1863720"/>
            <a:ext cx="2392200" cy="1003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Select Moneris Cloud and other information as per needs.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CustomShape 1"/>
          <p:cNvSpPr/>
          <p:nvPr/>
        </p:nvSpPr>
        <p:spPr>
          <a:xfrm>
            <a:off x="214560" y="349920"/>
            <a:ext cx="8320320" cy="651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a1a1a"/>
                </a:solidFill>
                <a:latin typeface="Roboto"/>
                <a:ea typeface="Roboto"/>
              </a:rPr>
              <a:t>Payment Methods (Form View) …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203" name="Google Shape;226;p9" descr="Graphical user interface, application&#10;&#10;Description automatically generated"/>
          <p:cNvPicPr/>
          <p:nvPr/>
        </p:nvPicPr>
        <p:blipFill>
          <a:blip r:embed="rId1"/>
          <a:stretch/>
        </p:blipFill>
        <p:spPr>
          <a:xfrm>
            <a:off x="2765880" y="1264680"/>
            <a:ext cx="5891760" cy="2920680"/>
          </a:xfrm>
          <a:prstGeom prst="rect">
            <a:avLst/>
          </a:prstGeom>
          <a:ln>
            <a:noFill/>
          </a:ln>
          <a:effectLst>
            <a:outerShdw algn="tl" blurRad="292100" dir="2700000" dist="138479" rotWithShape="0">
              <a:srgbClr val="333333">
                <a:alpha val="65000"/>
              </a:srgbClr>
            </a:outerShdw>
          </a:effectLst>
        </p:spPr>
      </p:pic>
      <p:sp>
        <p:nvSpPr>
          <p:cNvPr id="204" name="CustomShape 2"/>
          <p:cNvSpPr/>
          <p:nvPr/>
        </p:nvSpPr>
        <p:spPr>
          <a:xfrm>
            <a:off x="214560" y="2310120"/>
            <a:ext cx="2109960" cy="51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Now, Click on the “PAIR” button.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CustomShape 1"/>
          <p:cNvSpPr/>
          <p:nvPr/>
        </p:nvSpPr>
        <p:spPr>
          <a:xfrm>
            <a:off x="327240" y="349920"/>
            <a:ext cx="8207640" cy="651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a1a1a"/>
                </a:solidFill>
                <a:latin typeface="Roboto"/>
                <a:ea typeface="Roboto"/>
              </a:rPr>
              <a:t>Payment Methods (Form View) …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206" name="Google Shape;233;p10" descr="Graphical user interface, application&#10;&#10;Description automatically generated"/>
          <p:cNvPicPr/>
          <p:nvPr/>
        </p:nvPicPr>
        <p:blipFill>
          <a:blip r:embed="rId1"/>
          <a:stretch/>
        </p:blipFill>
        <p:spPr>
          <a:xfrm>
            <a:off x="2867400" y="1412640"/>
            <a:ext cx="6106320" cy="3027240"/>
          </a:xfrm>
          <a:prstGeom prst="rect">
            <a:avLst/>
          </a:prstGeom>
          <a:ln>
            <a:noFill/>
          </a:ln>
          <a:effectLst>
            <a:outerShdw algn="tl" blurRad="292100" dir="2700000" dist="138479" rotWithShape="0">
              <a:srgbClr val="333333">
                <a:alpha val="65000"/>
              </a:srgbClr>
            </a:outerShdw>
          </a:effectLst>
        </p:spPr>
      </p:pic>
      <p:sp>
        <p:nvSpPr>
          <p:cNvPr id="207" name="CustomShape 2"/>
          <p:cNvSpPr/>
          <p:nvPr/>
        </p:nvSpPr>
        <p:spPr>
          <a:xfrm>
            <a:off x="327240" y="1986840"/>
            <a:ext cx="2223000" cy="1155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After clicking on the pair button “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Moneris Cloud Paired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” option will automatically enabled.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CustomShape 1"/>
          <p:cNvSpPr/>
          <p:nvPr/>
        </p:nvSpPr>
        <p:spPr>
          <a:xfrm>
            <a:off x="327240" y="349920"/>
            <a:ext cx="8207640" cy="651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a1a1a"/>
                </a:solidFill>
                <a:latin typeface="Roboto"/>
                <a:ea typeface="Roboto"/>
              </a:rPr>
              <a:t>Payment Methods (Form View) …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209" name="Google Shape;240;p11" descr="Graphical user interface, application&#10;&#10;Description automatically generated"/>
          <p:cNvPicPr/>
          <p:nvPr/>
        </p:nvPicPr>
        <p:blipFill>
          <a:blip r:embed="rId1"/>
          <a:stretch/>
        </p:blipFill>
        <p:spPr>
          <a:xfrm>
            <a:off x="2678040" y="1311480"/>
            <a:ext cx="6137640" cy="3042720"/>
          </a:xfrm>
          <a:prstGeom prst="rect">
            <a:avLst/>
          </a:prstGeom>
          <a:ln>
            <a:noFill/>
          </a:ln>
          <a:effectLst>
            <a:outerShdw algn="tl" blurRad="292100" dir="2700000" dist="138479" rotWithShape="0">
              <a:srgbClr val="333333">
                <a:alpha val="65000"/>
              </a:srgbClr>
            </a:outerShdw>
          </a:effectLst>
        </p:spPr>
      </p:pic>
      <p:sp>
        <p:nvSpPr>
          <p:cNvPr id="210" name="CustomShape 2"/>
          <p:cNvSpPr/>
          <p:nvPr/>
        </p:nvSpPr>
        <p:spPr>
          <a:xfrm>
            <a:off x="327240" y="2231280"/>
            <a:ext cx="2143800" cy="72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Now, click on the “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INITILIZATION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” button.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CustomShape 1"/>
          <p:cNvSpPr/>
          <p:nvPr/>
        </p:nvSpPr>
        <p:spPr>
          <a:xfrm>
            <a:off x="389880" y="357840"/>
            <a:ext cx="77500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a1a1a"/>
                </a:solidFill>
                <a:latin typeface="Roboto"/>
                <a:ea typeface="Roboto"/>
              </a:rPr>
              <a:t>Payment Methods (Form View) …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212" name="Google Shape;247;p12" descr="Graphical user interface, text&#10;&#10;Description automatically generated"/>
          <p:cNvPicPr/>
          <p:nvPr/>
        </p:nvPicPr>
        <p:blipFill>
          <a:blip r:embed="rId1"/>
          <a:stretch/>
        </p:blipFill>
        <p:spPr>
          <a:xfrm>
            <a:off x="2517480" y="1332000"/>
            <a:ext cx="6410880" cy="3178080"/>
          </a:xfrm>
          <a:prstGeom prst="rect">
            <a:avLst/>
          </a:prstGeom>
          <a:ln>
            <a:noFill/>
          </a:ln>
          <a:effectLst>
            <a:outerShdw algn="tl" blurRad="292100" dir="2700000" dist="138479" rotWithShape="0">
              <a:srgbClr val="333333">
                <a:alpha val="65000"/>
              </a:srgbClr>
            </a:outerShdw>
          </a:effectLst>
        </p:spPr>
      </p:pic>
      <p:sp>
        <p:nvSpPr>
          <p:cNvPr id="213" name="CustomShape 2"/>
          <p:cNvSpPr/>
          <p:nvPr/>
        </p:nvSpPr>
        <p:spPr>
          <a:xfrm>
            <a:off x="214560" y="1986840"/>
            <a:ext cx="2301840" cy="94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After Click on the initialization button this pop-up message will appear.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CustomShape 1"/>
          <p:cNvSpPr/>
          <p:nvPr/>
        </p:nvSpPr>
        <p:spPr>
          <a:xfrm>
            <a:off x="225720" y="293400"/>
            <a:ext cx="8309160" cy="70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a1a1a"/>
                </a:solidFill>
                <a:latin typeface="Roboto"/>
                <a:ea typeface="Roboto"/>
              </a:rPr>
              <a:t>Payment Methods (Form View) …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215" name="Google Shape;254;p13" descr="Graphical user interface, text, application&#10;&#10;Description automatically generated"/>
          <p:cNvPicPr/>
          <p:nvPr/>
        </p:nvPicPr>
        <p:blipFill>
          <a:blip r:embed="rId1"/>
          <a:stretch/>
        </p:blipFill>
        <p:spPr>
          <a:xfrm>
            <a:off x="2325600" y="1220040"/>
            <a:ext cx="6586200" cy="3265200"/>
          </a:xfrm>
          <a:prstGeom prst="rect">
            <a:avLst/>
          </a:prstGeom>
          <a:ln>
            <a:noFill/>
          </a:ln>
          <a:effectLst>
            <a:outerShdw algn="tl" blurRad="292100" dir="2700000" dist="138479" rotWithShape="0">
              <a:srgbClr val="333333">
                <a:alpha val="65000"/>
              </a:srgbClr>
            </a:outerShdw>
          </a:effectLst>
        </p:spPr>
      </p:pic>
      <p:sp>
        <p:nvSpPr>
          <p:cNvPr id="216" name="CustomShape 2"/>
          <p:cNvSpPr/>
          <p:nvPr/>
        </p:nvSpPr>
        <p:spPr>
          <a:xfrm>
            <a:off x="101520" y="2358000"/>
            <a:ext cx="1963080" cy="51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Now, Click on the “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Unpair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” button.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CustomShape 1"/>
          <p:cNvSpPr/>
          <p:nvPr/>
        </p:nvSpPr>
        <p:spPr>
          <a:xfrm>
            <a:off x="316080" y="416880"/>
            <a:ext cx="77500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a1a1a"/>
                </a:solidFill>
                <a:latin typeface="Roboto"/>
                <a:ea typeface="Roboto"/>
              </a:rPr>
              <a:t>Payment Methods (Form View) …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218" name="Google Shape;261;p14" descr="Graphical user interface, application&#10;&#10;Description automatically generated"/>
          <p:cNvPicPr/>
          <p:nvPr/>
        </p:nvPicPr>
        <p:blipFill>
          <a:blip r:embed="rId1"/>
          <a:stretch/>
        </p:blipFill>
        <p:spPr>
          <a:xfrm>
            <a:off x="2393280" y="1302120"/>
            <a:ext cx="6580440" cy="3262320"/>
          </a:xfrm>
          <a:prstGeom prst="rect">
            <a:avLst/>
          </a:prstGeom>
          <a:ln>
            <a:noFill/>
          </a:ln>
          <a:effectLst>
            <a:outerShdw algn="tl" blurRad="292100" dir="2700000" dist="138479" rotWithShape="0">
              <a:srgbClr val="333333">
                <a:alpha val="65000"/>
              </a:srgbClr>
            </a:outerShdw>
          </a:effectLst>
        </p:spPr>
      </p:pic>
      <p:sp>
        <p:nvSpPr>
          <p:cNvPr id="219" name="CustomShape 2"/>
          <p:cNvSpPr/>
          <p:nvPr/>
        </p:nvSpPr>
        <p:spPr>
          <a:xfrm>
            <a:off x="316080" y="1670760"/>
            <a:ext cx="2076120" cy="1581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After clicking on the unpair button the “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Moneris Cloud Paired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” option will automatically disabled.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CustomShape 1"/>
          <p:cNvSpPr/>
          <p:nvPr/>
        </p:nvSpPr>
        <p:spPr>
          <a:xfrm>
            <a:off x="380520" y="283320"/>
            <a:ext cx="437580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Point of Sale Configuration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21" name="CustomShape 2"/>
          <p:cNvSpPr/>
          <p:nvPr/>
        </p:nvSpPr>
        <p:spPr>
          <a:xfrm>
            <a:off x="154440" y="1900800"/>
            <a:ext cx="2166840" cy="179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Go to Configuration </a:t>
            </a:r>
            <a:r>
              <a:rPr b="0" lang="en-US" sz="1400" spc="-1" strike="noStrike">
                <a:solidFill>
                  <a:srgbClr val="000000"/>
                </a:solidFill>
                <a:latin typeface="Noto Sans Symbols"/>
                <a:ea typeface="Noto Sans Symbols"/>
              </a:rPr>
              <a:t>🡪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Point of Sales.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Create or Select one that is already created.  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222" name="Google Shape;269;p15" descr="Graphical user interface, application&#10;&#10;Description automatically generated"/>
          <p:cNvPicPr/>
          <p:nvPr/>
        </p:nvPicPr>
        <p:blipFill>
          <a:blip r:embed="rId1"/>
          <a:stretch/>
        </p:blipFill>
        <p:spPr>
          <a:xfrm>
            <a:off x="2472120" y="1202400"/>
            <a:ext cx="6252840" cy="3099960"/>
          </a:xfrm>
          <a:prstGeom prst="rect">
            <a:avLst/>
          </a:prstGeom>
          <a:ln>
            <a:noFill/>
          </a:ln>
          <a:effectLst>
            <a:outerShdw algn="tl" blurRad="292100" dir="2700000" dist="138479" rotWithShape="0">
              <a:srgbClr val="333333">
                <a:alpha val="65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CustomShape 1"/>
          <p:cNvSpPr/>
          <p:nvPr/>
        </p:nvSpPr>
        <p:spPr>
          <a:xfrm>
            <a:off x="242640" y="389880"/>
            <a:ext cx="4570920" cy="1004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a1a1a"/>
                </a:solidFill>
                <a:latin typeface="Roboto"/>
                <a:ea typeface="Roboto"/>
              </a:rPr>
              <a:t>Point of Sales / Shop </a:t>
            </a:r>
            <a:r>
              <a:rPr b="1" lang="en-US" sz="2000" spc="-1" strike="noStrike">
                <a:solidFill>
                  <a:srgbClr val="1a1a1a"/>
                </a:solidFill>
                <a:latin typeface="Arial"/>
                <a:ea typeface="Arial"/>
              </a:rPr>
              <a:t>(Form View)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224" name="CustomShape 2"/>
          <p:cNvSpPr/>
          <p:nvPr/>
        </p:nvSpPr>
        <p:spPr>
          <a:xfrm>
            <a:off x="457200" y="2250000"/>
            <a:ext cx="2156400" cy="72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1. Add “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Moneris Cloud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” as Payment Methods under Payments 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225" name="Google Shape;276;p16" descr="Graphical user interface, application&#10;&#10;Description automatically generated"/>
          <p:cNvPicPr/>
          <p:nvPr/>
        </p:nvPicPr>
        <p:blipFill>
          <a:blip r:embed="rId1"/>
          <a:stretch/>
        </p:blipFill>
        <p:spPr>
          <a:xfrm>
            <a:off x="2642400" y="1230480"/>
            <a:ext cx="5862600" cy="29062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CustomShape 1"/>
          <p:cNvSpPr/>
          <p:nvPr/>
        </p:nvSpPr>
        <p:spPr>
          <a:xfrm>
            <a:off x="147600" y="360000"/>
            <a:ext cx="77500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a1a1a"/>
                </a:solidFill>
                <a:latin typeface="Roboto"/>
                <a:ea typeface="Roboto"/>
              </a:rPr>
              <a:t>Point of Sales / Shop (Form View) …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27" name="CustomShape 2"/>
          <p:cNvSpPr/>
          <p:nvPr/>
        </p:nvSpPr>
        <p:spPr>
          <a:xfrm>
            <a:off x="147600" y="1738800"/>
            <a:ext cx="2481480" cy="2007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1. Activate “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Show POS Orders in POS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”.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2. Select “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Limit all sessions Orders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” under Session Limit Configuration.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3. Activate “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Show Posted Orders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”.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228" name="Google Shape;283;p17" descr="Graphical user interface, application&#10;&#10;Description automatically generated"/>
          <p:cNvPicPr/>
          <p:nvPr/>
        </p:nvPicPr>
        <p:blipFill>
          <a:blip r:embed="rId1"/>
          <a:stretch/>
        </p:blipFill>
        <p:spPr>
          <a:xfrm>
            <a:off x="2523960" y="1185480"/>
            <a:ext cx="6471360" cy="3207960"/>
          </a:xfrm>
          <a:prstGeom prst="rect">
            <a:avLst/>
          </a:prstGeom>
          <a:ln>
            <a:noFill/>
          </a:ln>
          <a:effectLst>
            <a:outerShdw algn="tl" blurRad="292100" dir="2700000" dist="138479" rotWithShape="0">
              <a:srgbClr val="333333">
                <a:alpha val="65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CustomShape 1"/>
          <p:cNvSpPr/>
          <p:nvPr/>
        </p:nvSpPr>
        <p:spPr>
          <a:xfrm>
            <a:off x="1432440" y="1635480"/>
            <a:ext cx="640152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434343"/>
                </a:solidFill>
                <a:latin typeface="Roboto"/>
                <a:ea typeface="Roboto"/>
              </a:rPr>
              <a:t>Moneris Cloud Payment Process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CustomShape 1"/>
          <p:cNvSpPr/>
          <p:nvPr/>
        </p:nvSpPr>
        <p:spPr>
          <a:xfrm>
            <a:off x="-1535400" y="237240"/>
            <a:ext cx="6819120" cy="504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333333"/>
                </a:solidFill>
                <a:latin typeface="Lato"/>
                <a:ea typeface="Lato"/>
              </a:rPr>
              <a:t>Purchase in Odoo POS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31" name="CustomShape 2"/>
          <p:cNvSpPr/>
          <p:nvPr/>
        </p:nvSpPr>
        <p:spPr>
          <a:xfrm>
            <a:off x="437760" y="2126880"/>
            <a:ext cx="2094840" cy="2007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Click on the product to proceed or select the product to see details.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</p:txBody>
      </p:sp>
      <p:pic>
        <p:nvPicPr>
          <p:cNvPr id="232" name="Google Shape;295;p19" descr="Graphical user interface, application, Word&#10;&#10;Description automatically generated"/>
          <p:cNvPicPr/>
          <p:nvPr/>
        </p:nvPicPr>
        <p:blipFill>
          <a:blip r:embed="rId1"/>
          <a:stretch/>
        </p:blipFill>
        <p:spPr>
          <a:xfrm>
            <a:off x="2691720" y="1275480"/>
            <a:ext cx="6295320" cy="3124080"/>
          </a:xfrm>
          <a:prstGeom prst="rect">
            <a:avLst/>
          </a:prstGeom>
          <a:ln>
            <a:noFill/>
          </a:ln>
          <a:effectLst>
            <a:outerShdw algn="tl" blurRad="292100" dir="2700000" dist="138479" rotWithShape="0">
              <a:srgbClr val="333333">
                <a:alpha val="65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CustomShape 1"/>
          <p:cNvSpPr/>
          <p:nvPr/>
        </p:nvSpPr>
        <p:spPr>
          <a:xfrm>
            <a:off x="234000" y="273240"/>
            <a:ext cx="77500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333333"/>
                </a:solidFill>
                <a:latin typeface="Lato"/>
                <a:ea typeface="Lato"/>
              </a:rPr>
              <a:t>Purchase in Odoo POS</a:t>
            </a:r>
            <a:r>
              <a:rPr b="1" lang="en-US" sz="2000" spc="-1" strike="noStrike">
                <a:solidFill>
                  <a:srgbClr val="434343"/>
                </a:solidFill>
                <a:latin typeface="Roboto"/>
                <a:ea typeface="Roboto"/>
              </a:rPr>
              <a:t>…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34" name="CustomShape 2"/>
          <p:cNvSpPr/>
          <p:nvPr/>
        </p:nvSpPr>
        <p:spPr>
          <a:xfrm>
            <a:off x="234000" y="1771560"/>
            <a:ext cx="2022840" cy="1703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Now, click on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   “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Payment ” tab.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</p:txBody>
      </p:sp>
      <p:pic>
        <p:nvPicPr>
          <p:cNvPr id="235" name="Google Shape;302;p20" descr="Graphical user interface, application, Word&#10;&#10;Description automatically generated"/>
          <p:cNvPicPr/>
          <p:nvPr/>
        </p:nvPicPr>
        <p:blipFill>
          <a:blip r:embed="rId1"/>
          <a:stretch/>
        </p:blipFill>
        <p:spPr>
          <a:xfrm>
            <a:off x="2449800" y="1263600"/>
            <a:ext cx="6459480" cy="32054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CustomShape 1"/>
          <p:cNvSpPr/>
          <p:nvPr/>
        </p:nvSpPr>
        <p:spPr>
          <a:xfrm>
            <a:off x="209160" y="277200"/>
            <a:ext cx="77500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333333"/>
                </a:solidFill>
                <a:latin typeface="Lato"/>
                <a:ea typeface="Lato"/>
              </a:rPr>
              <a:t>Purchase in Odoo POS </a:t>
            </a:r>
            <a:r>
              <a:rPr b="1" lang="en-US" sz="2000" spc="-1" strike="noStrike">
                <a:solidFill>
                  <a:srgbClr val="434343"/>
                </a:solidFill>
                <a:latin typeface="Roboto"/>
                <a:ea typeface="Roboto"/>
              </a:rPr>
              <a:t>…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37" name="CustomShape 2"/>
          <p:cNvSpPr/>
          <p:nvPr/>
        </p:nvSpPr>
        <p:spPr>
          <a:xfrm>
            <a:off x="544680" y="2404080"/>
            <a:ext cx="2012760" cy="51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1. Click on “ Moneris Cloud” for Payment.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238" name="Google Shape;309;p21" descr="Graphical user interface&#10;&#10;Description automatically generated"/>
          <p:cNvPicPr/>
          <p:nvPr/>
        </p:nvPicPr>
        <p:blipFill>
          <a:blip r:embed="rId1"/>
          <a:stretch/>
        </p:blipFill>
        <p:spPr>
          <a:xfrm>
            <a:off x="2349720" y="1091160"/>
            <a:ext cx="6499800" cy="32256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CustomShape 1"/>
          <p:cNvSpPr/>
          <p:nvPr/>
        </p:nvSpPr>
        <p:spPr>
          <a:xfrm>
            <a:off x="276840" y="403560"/>
            <a:ext cx="77500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333333"/>
                </a:solidFill>
                <a:latin typeface="Lato"/>
                <a:ea typeface="Lato"/>
              </a:rPr>
              <a:t>Purchase in Odoo POS</a:t>
            </a:r>
            <a:r>
              <a:rPr b="1" lang="en-US" sz="2000" spc="-1" strike="noStrike">
                <a:solidFill>
                  <a:srgbClr val="434343"/>
                </a:solidFill>
                <a:latin typeface="Roboto"/>
                <a:ea typeface="Roboto"/>
              </a:rPr>
              <a:t>…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40" name="CustomShape 2"/>
          <p:cNvSpPr/>
          <p:nvPr/>
        </p:nvSpPr>
        <p:spPr>
          <a:xfrm>
            <a:off x="563400" y="2169000"/>
            <a:ext cx="1955160" cy="94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1. Now Click on “ Payment request pending , Send” button.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241" name="Google Shape;316;p22" descr="Graphical user interface&#10;&#10;Description automatically generated"/>
          <p:cNvPicPr/>
          <p:nvPr/>
        </p:nvPicPr>
        <p:blipFill>
          <a:blip r:embed="rId1"/>
          <a:stretch/>
        </p:blipFill>
        <p:spPr>
          <a:xfrm>
            <a:off x="2520000" y="1382040"/>
            <a:ext cx="6512760" cy="32320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CustomShape 1"/>
          <p:cNvSpPr/>
          <p:nvPr/>
        </p:nvSpPr>
        <p:spPr>
          <a:xfrm>
            <a:off x="507960" y="410040"/>
            <a:ext cx="8026920" cy="59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333333"/>
                </a:solidFill>
                <a:latin typeface="Lato"/>
                <a:ea typeface="Lato"/>
              </a:rPr>
              <a:t>Purchase in Odoo POS</a:t>
            </a:r>
            <a:r>
              <a:rPr b="1" lang="en-US" sz="2000" spc="-1" strike="noStrike">
                <a:solidFill>
                  <a:srgbClr val="434343"/>
                </a:solidFill>
                <a:latin typeface="Roboto"/>
                <a:ea typeface="Roboto"/>
              </a:rPr>
              <a:t>…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43" name="CustomShape 2"/>
          <p:cNvSpPr/>
          <p:nvPr/>
        </p:nvSpPr>
        <p:spPr>
          <a:xfrm>
            <a:off x="703800" y="1493640"/>
            <a:ext cx="2622960" cy="179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1400" spc="-1" strike="noStrike">
                <a:solidFill>
                  <a:srgbClr val="1a1a1a"/>
                </a:solidFill>
                <a:latin typeface="Arial"/>
                <a:ea typeface="Arial"/>
              </a:rPr>
              <a:t>Status will change from "Payment request Pending" to "Waiting for Card”.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Arial"/>
                <a:ea typeface="Arial"/>
              </a:rPr>
              <a:t>Insert the card in the Moneris Terminal.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</p:txBody>
      </p:sp>
      <p:pic>
        <p:nvPicPr>
          <p:cNvPr id="244" name="Google Shape;323;p23" descr="Graphical user interface&#10;&#10;Description automatically generated"/>
          <p:cNvPicPr/>
          <p:nvPr/>
        </p:nvPicPr>
        <p:blipFill>
          <a:blip r:embed="rId1"/>
          <a:stretch/>
        </p:blipFill>
        <p:spPr>
          <a:xfrm>
            <a:off x="3122280" y="1211400"/>
            <a:ext cx="5840280" cy="2898360"/>
          </a:xfrm>
          <a:prstGeom prst="rect">
            <a:avLst/>
          </a:prstGeom>
          <a:ln>
            <a:noFill/>
          </a:ln>
          <a:effectLst>
            <a:outerShdw algn="tl" blurRad="292100" dir="2700000" dist="138479" rotWithShape="0">
              <a:srgbClr val="333333">
                <a:alpha val="65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CustomShape 1"/>
          <p:cNvSpPr/>
          <p:nvPr/>
        </p:nvSpPr>
        <p:spPr>
          <a:xfrm>
            <a:off x="326880" y="361080"/>
            <a:ext cx="8208000" cy="64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333333"/>
                </a:solidFill>
                <a:latin typeface="Lato"/>
                <a:ea typeface="Lato"/>
              </a:rPr>
              <a:t>Purchase in Odoo POS</a:t>
            </a:r>
            <a:r>
              <a:rPr b="1" lang="en-US" sz="2000" spc="-1" strike="noStrike">
                <a:solidFill>
                  <a:srgbClr val="434343"/>
                </a:solidFill>
                <a:latin typeface="Roboto"/>
                <a:ea typeface="Roboto"/>
              </a:rPr>
              <a:t>…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246" name="Google Shape;329;p24" descr="Graphical user interface, application&#10;&#10;Description automatically generated"/>
          <p:cNvPicPr/>
          <p:nvPr/>
        </p:nvPicPr>
        <p:blipFill>
          <a:blip r:embed="rId1"/>
          <a:stretch/>
        </p:blipFill>
        <p:spPr>
          <a:xfrm>
            <a:off x="2765160" y="1332000"/>
            <a:ext cx="6067800" cy="3011040"/>
          </a:xfrm>
          <a:prstGeom prst="rect">
            <a:avLst/>
          </a:prstGeom>
          <a:ln>
            <a:noFill/>
          </a:ln>
        </p:spPr>
      </p:pic>
      <p:sp>
        <p:nvSpPr>
          <p:cNvPr id="247" name="CustomShape 2"/>
          <p:cNvSpPr/>
          <p:nvPr/>
        </p:nvSpPr>
        <p:spPr>
          <a:xfrm>
            <a:off x="326880" y="2202480"/>
            <a:ext cx="2256840" cy="179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1400" spc="-1" strike="noStrike">
                <a:solidFill>
                  <a:srgbClr val="1a1a1a"/>
                </a:solidFill>
                <a:latin typeface="Arial"/>
                <a:ea typeface="Arial"/>
              </a:rPr>
              <a:t>Insert the card in the Moneris Terminal.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Arial"/>
                <a:ea typeface="Arial"/>
              </a:rPr>
              <a:t>After a successful transection the status will show “Payment Successful”.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CustomShape 1"/>
          <p:cNvSpPr/>
          <p:nvPr/>
        </p:nvSpPr>
        <p:spPr>
          <a:xfrm>
            <a:off x="333360" y="408600"/>
            <a:ext cx="77500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333333"/>
                </a:solidFill>
                <a:latin typeface="Lato"/>
                <a:ea typeface="Lato"/>
              </a:rPr>
              <a:t>Purchase in Odoo POS</a:t>
            </a:r>
            <a:r>
              <a:rPr b="1" lang="en-US" sz="2000" spc="-1" strike="noStrike">
                <a:solidFill>
                  <a:srgbClr val="434343"/>
                </a:solidFill>
                <a:latin typeface="Roboto"/>
                <a:ea typeface="Roboto"/>
              </a:rPr>
              <a:t>…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49" name="CustomShape 2"/>
          <p:cNvSpPr/>
          <p:nvPr/>
        </p:nvSpPr>
        <p:spPr>
          <a:xfrm>
            <a:off x="83880" y="1851480"/>
            <a:ext cx="2579040" cy="79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Arial"/>
                <a:ea typeface="Arial"/>
              </a:rPr>
              <a:t>Now, click on validate button.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250" name="Google Shape;337;p25" descr="Graphical user interface&#10;&#10;Description automatically generated"/>
          <p:cNvPicPr/>
          <p:nvPr/>
        </p:nvPicPr>
        <p:blipFill>
          <a:blip r:embed="rId1"/>
          <a:stretch/>
        </p:blipFill>
        <p:spPr>
          <a:xfrm>
            <a:off x="2378160" y="1173960"/>
            <a:ext cx="6510240" cy="30240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CustomShape 1"/>
          <p:cNvSpPr/>
          <p:nvPr/>
        </p:nvSpPr>
        <p:spPr>
          <a:xfrm>
            <a:off x="446400" y="443160"/>
            <a:ext cx="77500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333333"/>
                </a:solidFill>
                <a:latin typeface="Lato"/>
                <a:ea typeface="Lato"/>
              </a:rPr>
              <a:t>Purchase in Odoo POS</a:t>
            </a:r>
            <a:r>
              <a:rPr b="1" lang="en-US" sz="2000" spc="-1" strike="noStrike">
                <a:solidFill>
                  <a:srgbClr val="434343"/>
                </a:solidFill>
                <a:latin typeface="Roboto"/>
                <a:ea typeface="Roboto"/>
              </a:rPr>
              <a:t>…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52" name="CustomShape 2"/>
          <p:cNvSpPr/>
          <p:nvPr/>
        </p:nvSpPr>
        <p:spPr>
          <a:xfrm>
            <a:off x="284760" y="2096640"/>
            <a:ext cx="2172600" cy="1581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Here, We can see the receipt.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To create a new purchase order, click on the  “New Order” button.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253" name="Google Shape;344;p26" descr="Graphical user interface, application&#10;&#10;Description automatically generated"/>
          <p:cNvPicPr/>
          <p:nvPr/>
        </p:nvPicPr>
        <p:blipFill>
          <a:blip r:embed="rId1"/>
          <a:stretch/>
        </p:blipFill>
        <p:spPr>
          <a:xfrm>
            <a:off x="2458080" y="1367280"/>
            <a:ext cx="6583320" cy="30578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CustomShape 1"/>
          <p:cNvSpPr/>
          <p:nvPr/>
        </p:nvSpPr>
        <p:spPr>
          <a:xfrm>
            <a:off x="327240" y="318240"/>
            <a:ext cx="77500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333333"/>
                </a:solidFill>
                <a:latin typeface="Lato"/>
                <a:ea typeface="Lato"/>
              </a:rPr>
              <a:t>Purchase in Odoo POS</a:t>
            </a:r>
            <a:r>
              <a:rPr b="1" lang="en-US" sz="2000" spc="-1" strike="noStrike">
                <a:solidFill>
                  <a:srgbClr val="434343"/>
                </a:solidFill>
                <a:latin typeface="Roboto"/>
                <a:ea typeface="Roboto"/>
              </a:rPr>
              <a:t>…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255" name="Google Shape;350;p27" descr="Graphical user interface, application&#10;&#10;Description automatically generated"/>
          <p:cNvPicPr/>
          <p:nvPr/>
        </p:nvPicPr>
        <p:blipFill>
          <a:blip r:embed="rId1"/>
          <a:stretch/>
        </p:blipFill>
        <p:spPr>
          <a:xfrm>
            <a:off x="2883960" y="1326240"/>
            <a:ext cx="5931720" cy="2755080"/>
          </a:xfrm>
          <a:prstGeom prst="rect">
            <a:avLst/>
          </a:prstGeom>
          <a:ln>
            <a:noFill/>
          </a:ln>
        </p:spPr>
      </p:pic>
      <p:sp>
        <p:nvSpPr>
          <p:cNvPr id="256" name="CustomShape 2"/>
          <p:cNvSpPr/>
          <p:nvPr/>
        </p:nvSpPr>
        <p:spPr>
          <a:xfrm>
            <a:off x="327240" y="2180880"/>
            <a:ext cx="2414880" cy="51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Now, click on the close button.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CustomShape 1"/>
          <p:cNvSpPr/>
          <p:nvPr/>
        </p:nvSpPr>
        <p:spPr>
          <a:xfrm>
            <a:off x="259560" y="278280"/>
            <a:ext cx="77500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333333"/>
                </a:solidFill>
                <a:latin typeface="Lato"/>
                <a:ea typeface="Lato"/>
              </a:rPr>
              <a:t>Purchase in Odoo POS</a:t>
            </a:r>
            <a:r>
              <a:rPr b="1" lang="en-US" sz="2000" spc="-1" strike="noStrike">
                <a:solidFill>
                  <a:srgbClr val="434343"/>
                </a:solidFill>
                <a:latin typeface="Roboto"/>
                <a:ea typeface="Roboto"/>
              </a:rPr>
              <a:t>…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258" name="Google Shape;357;p28" descr="Graphical user interface, application&#10;&#10;Description automatically generated"/>
          <p:cNvPicPr/>
          <p:nvPr/>
        </p:nvPicPr>
        <p:blipFill>
          <a:blip r:embed="rId1"/>
          <a:stretch/>
        </p:blipFill>
        <p:spPr>
          <a:xfrm>
            <a:off x="2415960" y="1266840"/>
            <a:ext cx="6563880" cy="3048840"/>
          </a:xfrm>
          <a:prstGeom prst="rect">
            <a:avLst/>
          </a:prstGeom>
          <a:ln>
            <a:noFill/>
          </a:ln>
        </p:spPr>
      </p:pic>
      <p:sp>
        <p:nvSpPr>
          <p:cNvPr id="259" name="CustomShape 2"/>
          <p:cNvSpPr/>
          <p:nvPr/>
        </p:nvSpPr>
        <p:spPr>
          <a:xfrm>
            <a:off x="259560" y="2381040"/>
            <a:ext cx="1895400" cy="51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Now, click on “Confirm” button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CustomShape 1"/>
          <p:cNvSpPr/>
          <p:nvPr/>
        </p:nvSpPr>
        <p:spPr>
          <a:xfrm>
            <a:off x="333360" y="403560"/>
            <a:ext cx="77500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333333"/>
                </a:solidFill>
                <a:latin typeface="Lato"/>
                <a:ea typeface="Lato"/>
              </a:rPr>
              <a:t>Purchase in Odoo POS</a:t>
            </a:r>
            <a:r>
              <a:rPr b="1" lang="en-US" sz="2000" spc="-1" strike="noStrike">
                <a:solidFill>
                  <a:srgbClr val="434343"/>
                </a:solidFill>
                <a:latin typeface="Roboto"/>
                <a:ea typeface="Roboto"/>
              </a:rPr>
              <a:t>…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261" name="Google Shape;364;p29" descr="Graphical user interface, application, Teams&#10;&#10;Description automatically generated"/>
          <p:cNvPicPr/>
          <p:nvPr/>
        </p:nvPicPr>
        <p:blipFill>
          <a:blip r:embed="rId1"/>
          <a:stretch/>
        </p:blipFill>
        <p:spPr>
          <a:xfrm>
            <a:off x="2479320" y="1430280"/>
            <a:ext cx="6055920" cy="2812680"/>
          </a:xfrm>
          <a:prstGeom prst="rect">
            <a:avLst/>
          </a:prstGeom>
          <a:ln>
            <a:noFill/>
          </a:ln>
        </p:spPr>
      </p:pic>
      <p:sp>
        <p:nvSpPr>
          <p:cNvPr id="262" name="CustomShape 2"/>
          <p:cNvSpPr/>
          <p:nvPr/>
        </p:nvSpPr>
        <p:spPr>
          <a:xfrm>
            <a:off x="191880" y="2423880"/>
            <a:ext cx="2286360" cy="30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Now, click on “Close”.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CustomShape 1"/>
          <p:cNvSpPr/>
          <p:nvPr/>
        </p:nvSpPr>
        <p:spPr>
          <a:xfrm>
            <a:off x="344520" y="415080"/>
            <a:ext cx="77500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333333"/>
                </a:solidFill>
                <a:latin typeface="Lato"/>
                <a:ea typeface="Lato"/>
              </a:rPr>
              <a:t>Purchase in Odoo POS</a:t>
            </a:r>
            <a:r>
              <a:rPr b="1" lang="en-US" sz="2000" spc="-1" strike="noStrike">
                <a:solidFill>
                  <a:srgbClr val="434343"/>
                </a:solidFill>
                <a:latin typeface="Roboto"/>
                <a:ea typeface="Roboto"/>
              </a:rPr>
              <a:t>…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264" name="Google Shape;371;p30" descr="Graphical user interface, text, application, email&#10;&#10;Description automatically generated"/>
          <p:cNvPicPr/>
          <p:nvPr/>
        </p:nvPicPr>
        <p:blipFill>
          <a:blip r:embed="rId1"/>
          <a:stretch/>
        </p:blipFill>
        <p:spPr>
          <a:xfrm>
            <a:off x="2489040" y="1422360"/>
            <a:ext cx="6462000" cy="3001680"/>
          </a:xfrm>
          <a:prstGeom prst="rect">
            <a:avLst/>
          </a:prstGeom>
          <a:ln>
            <a:noFill/>
          </a:ln>
          <a:effectLst>
            <a:outerShdw algn="tl" blurRad="292100" dir="2700000" dist="138479" rotWithShape="0">
              <a:srgbClr val="333333">
                <a:alpha val="65000"/>
              </a:srgbClr>
            </a:outerShdw>
          </a:effectLst>
        </p:spPr>
      </p:pic>
      <p:sp>
        <p:nvSpPr>
          <p:cNvPr id="265" name="CustomShape 2"/>
          <p:cNvSpPr/>
          <p:nvPr/>
        </p:nvSpPr>
        <p:spPr>
          <a:xfrm>
            <a:off x="237240" y="2340000"/>
            <a:ext cx="2250720" cy="72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Now, Click on “Close Session and Post Entries”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CustomShape 1"/>
          <p:cNvSpPr/>
          <p:nvPr/>
        </p:nvSpPr>
        <p:spPr>
          <a:xfrm>
            <a:off x="423720" y="397440"/>
            <a:ext cx="77500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333333"/>
                </a:solidFill>
                <a:latin typeface="Lato"/>
                <a:ea typeface="Lato"/>
              </a:rPr>
              <a:t>Purchase in Odoo POS</a:t>
            </a:r>
            <a:r>
              <a:rPr b="1" lang="en-US" sz="2000" spc="-1" strike="noStrike">
                <a:solidFill>
                  <a:srgbClr val="434343"/>
                </a:solidFill>
                <a:latin typeface="Roboto"/>
                <a:ea typeface="Roboto"/>
              </a:rPr>
              <a:t>…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67" name="CustomShape 2"/>
          <p:cNvSpPr/>
          <p:nvPr/>
        </p:nvSpPr>
        <p:spPr>
          <a:xfrm>
            <a:off x="318600" y="1767240"/>
            <a:ext cx="2187360" cy="2007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Go back to point of Sales module.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Click on Orders </a:t>
            </a:r>
            <a:r>
              <a:rPr b="0" lang="en-US" sz="1400" spc="-1" strike="noStrike">
                <a:solidFill>
                  <a:srgbClr val="000000"/>
                </a:solidFill>
                <a:latin typeface="Noto Sans Symbols"/>
                <a:ea typeface="Noto Sans Symbols"/>
              </a:rPr>
              <a:t>🡪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Payment.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Now, click on the record.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</p:txBody>
      </p:sp>
      <p:pic>
        <p:nvPicPr>
          <p:cNvPr id="268" name="Google Shape;379;p31" descr=""/>
          <p:cNvPicPr/>
          <p:nvPr/>
        </p:nvPicPr>
        <p:blipFill>
          <a:blip r:embed="rId1"/>
          <a:stretch/>
        </p:blipFill>
        <p:spPr>
          <a:xfrm>
            <a:off x="2907720" y="1443960"/>
            <a:ext cx="5916960" cy="2353320"/>
          </a:xfrm>
          <a:prstGeom prst="rect">
            <a:avLst/>
          </a:prstGeom>
          <a:ln>
            <a:noFill/>
          </a:ln>
          <a:effectLst>
            <a:outerShdw algn="tl" blurRad="292100" dir="2700000" dist="138479" rotWithShape="0">
              <a:srgbClr val="333333">
                <a:alpha val="65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CustomShape 1"/>
          <p:cNvSpPr/>
          <p:nvPr/>
        </p:nvSpPr>
        <p:spPr>
          <a:xfrm>
            <a:off x="286200" y="384480"/>
            <a:ext cx="77500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333333"/>
                </a:solidFill>
                <a:latin typeface="Lato"/>
                <a:ea typeface="Lato"/>
              </a:rPr>
              <a:t>Purchase in Odoo POS</a:t>
            </a:r>
            <a:r>
              <a:rPr b="1" lang="en-US" sz="2000" spc="-1" strike="noStrike">
                <a:solidFill>
                  <a:srgbClr val="434343"/>
                </a:solidFill>
                <a:latin typeface="Roboto"/>
                <a:ea typeface="Roboto"/>
              </a:rPr>
              <a:t>…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70" name="CustomShape 2"/>
          <p:cNvSpPr/>
          <p:nvPr/>
        </p:nvSpPr>
        <p:spPr>
          <a:xfrm>
            <a:off x="2493000" y="1362240"/>
            <a:ext cx="2472480" cy="30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Now, click on the record.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271" name="Google Shape;386;p32" descr="Graphical user interface, text, application, email&#10;&#10;Description automatically generated"/>
          <p:cNvPicPr/>
          <p:nvPr/>
        </p:nvPicPr>
        <p:blipFill>
          <a:blip r:embed="rId1"/>
          <a:stretch/>
        </p:blipFill>
        <p:spPr>
          <a:xfrm>
            <a:off x="286200" y="1836360"/>
            <a:ext cx="8664840" cy="2757240"/>
          </a:xfrm>
          <a:prstGeom prst="rect">
            <a:avLst/>
          </a:prstGeom>
          <a:ln>
            <a:noFill/>
          </a:ln>
          <a:effectLst>
            <a:outerShdw algn="tl" blurRad="292100" dir="2700000" dist="138479" rotWithShape="0">
              <a:srgbClr val="333333">
                <a:alpha val="65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CustomShape 1"/>
          <p:cNvSpPr/>
          <p:nvPr/>
        </p:nvSpPr>
        <p:spPr>
          <a:xfrm>
            <a:off x="248400" y="453960"/>
            <a:ext cx="82864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434343"/>
                </a:solidFill>
                <a:latin typeface="Roboto"/>
                <a:ea typeface="Roboto"/>
              </a:rPr>
              <a:t>Refund in Odoo POS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273" name="Google Shape;392;p33" descr=""/>
          <p:cNvPicPr/>
          <p:nvPr/>
        </p:nvPicPr>
        <p:blipFill>
          <a:blip r:embed="rId1"/>
          <a:stretch/>
        </p:blipFill>
        <p:spPr>
          <a:xfrm>
            <a:off x="2610360" y="1294560"/>
            <a:ext cx="6203520" cy="3163320"/>
          </a:xfrm>
          <a:prstGeom prst="rect">
            <a:avLst/>
          </a:prstGeom>
          <a:ln>
            <a:noFill/>
          </a:ln>
          <a:effectLst>
            <a:outerShdw algn="tl" blurRad="292100" dir="2700000" dist="138479" rotWithShape="0">
              <a:srgbClr val="333333">
                <a:alpha val="65000"/>
              </a:srgbClr>
            </a:outerShdw>
          </a:effectLst>
        </p:spPr>
      </p:pic>
      <p:sp>
        <p:nvSpPr>
          <p:cNvPr id="274" name="CustomShape 2"/>
          <p:cNvSpPr/>
          <p:nvPr/>
        </p:nvSpPr>
        <p:spPr>
          <a:xfrm flipH="1">
            <a:off x="440280" y="2486520"/>
            <a:ext cx="2094840" cy="51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1. Now, Click on “ Order button”.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CustomShape 1"/>
          <p:cNvSpPr/>
          <p:nvPr/>
        </p:nvSpPr>
        <p:spPr>
          <a:xfrm>
            <a:off x="537840" y="523800"/>
            <a:ext cx="77500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434343"/>
                </a:solidFill>
                <a:latin typeface="Roboto"/>
                <a:ea typeface="Roboto"/>
              </a:rPr>
              <a:t>Refund in Odoo POS …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76" name="CustomShape 2"/>
          <p:cNvSpPr/>
          <p:nvPr/>
        </p:nvSpPr>
        <p:spPr>
          <a:xfrm>
            <a:off x="537840" y="1723320"/>
            <a:ext cx="2181600" cy="2007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1. Now, Click on “ Return Order” Button.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2. Now, Set “ Return Qty” and click on apply.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277" name="Google Shape;400;p34" descr="Graphical user interface, application&#10;&#10;Description automatically generated"/>
          <p:cNvPicPr/>
          <p:nvPr/>
        </p:nvPicPr>
        <p:blipFill>
          <a:blip r:embed="rId1"/>
          <a:stretch/>
        </p:blipFill>
        <p:spPr>
          <a:xfrm>
            <a:off x="2853000" y="1347840"/>
            <a:ext cx="6038640" cy="29966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CustomShape 1"/>
          <p:cNvSpPr/>
          <p:nvPr/>
        </p:nvSpPr>
        <p:spPr>
          <a:xfrm>
            <a:off x="276840" y="396360"/>
            <a:ext cx="77500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434343"/>
                </a:solidFill>
                <a:latin typeface="Roboto"/>
                <a:ea typeface="Roboto"/>
              </a:rPr>
              <a:t>Refund in Odoo POS …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279" name="Google Shape;406;p35" descr="A screenshot of a computer&#10;&#10;Description automatically generated"/>
          <p:cNvPicPr/>
          <p:nvPr/>
        </p:nvPicPr>
        <p:blipFill>
          <a:blip r:embed="rId1"/>
          <a:stretch/>
        </p:blipFill>
        <p:spPr>
          <a:xfrm>
            <a:off x="2494800" y="1377360"/>
            <a:ext cx="6535080" cy="3035520"/>
          </a:xfrm>
          <a:prstGeom prst="rect">
            <a:avLst/>
          </a:prstGeom>
          <a:ln>
            <a:noFill/>
          </a:ln>
        </p:spPr>
      </p:pic>
      <p:sp>
        <p:nvSpPr>
          <p:cNvPr id="280" name="CustomShape 2"/>
          <p:cNvSpPr/>
          <p:nvPr/>
        </p:nvSpPr>
        <p:spPr>
          <a:xfrm>
            <a:off x="113040" y="2417760"/>
            <a:ext cx="2381040" cy="51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Now, Set “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Return Qty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” and click on apply.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CustomShape 1"/>
          <p:cNvSpPr/>
          <p:nvPr/>
        </p:nvSpPr>
        <p:spPr>
          <a:xfrm>
            <a:off x="244440" y="510480"/>
            <a:ext cx="77500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434343"/>
                </a:solidFill>
                <a:latin typeface="Roboto"/>
                <a:ea typeface="Roboto"/>
              </a:rPr>
              <a:t>Refund in Odoo POS …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82" name="CustomShape 2"/>
          <p:cNvSpPr/>
          <p:nvPr/>
        </p:nvSpPr>
        <p:spPr>
          <a:xfrm>
            <a:off x="244440" y="2009160"/>
            <a:ext cx="2191320" cy="1155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Showing the Refund amount details.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Click on the “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Payment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” button. 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283" name="Google Shape;414;p36" descr="Graphical user interface, application&#10;&#10;Description automatically generated"/>
          <p:cNvPicPr/>
          <p:nvPr/>
        </p:nvPicPr>
        <p:blipFill>
          <a:blip r:embed="rId1"/>
          <a:stretch/>
        </p:blipFill>
        <p:spPr>
          <a:xfrm>
            <a:off x="2436840" y="1179000"/>
            <a:ext cx="6597360" cy="3064320"/>
          </a:xfrm>
          <a:prstGeom prst="rect">
            <a:avLst/>
          </a:prstGeom>
          <a:ln>
            <a:noFill/>
          </a:ln>
          <a:effectLst>
            <a:outerShdw algn="tl" blurRad="292100" dir="2700000" dist="138479" rotWithShape="0">
              <a:srgbClr val="333333">
                <a:alpha val="65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CustomShape 1"/>
          <p:cNvSpPr/>
          <p:nvPr/>
        </p:nvSpPr>
        <p:spPr>
          <a:xfrm>
            <a:off x="288360" y="309600"/>
            <a:ext cx="77500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434343"/>
                </a:solidFill>
                <a:latin typeface="Roboto"/>
                <a:ea typeface="Roboto"/>
              </a:rPr>
              <a:t>Refund in Odoo POS …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85" name="CustomShape 2"/>
          <p:cNvSpPr/>
          <p:nvPr/>
        </p:nvSpPr>
        <p:spPr>
          <a:xfrm>
            <a:off x="169200" y="2239560"/>
            <a:ext cx="2135520" cy="51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1. Click on the “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Moneris Cloud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”.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286" name="Google Shape;421;p37" descr="Graphical user interface, application&#10;&#10;Description automatically generated"/>
          <p:cNvPicPr/>
          <p:nvPr/>
        </p:nvPicPr>
        <p:blipFill>
          <a:blip r:embed="rId1"/>
          <a:stretch/>
        </p:blipFill>
        <p:spPr>
          <a:xfrm>
            <a:off x="2415960" y="1238400"/>
            <a:ext cx="6557760" cy="3045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CustomShape 1"/>
          <p:cNvSpPr/>
          <p:nvPr/>
        </p:nvSpPr>
        <p:spPr>
          <a:xfrm>
            <a:off x="0" y="0"/>
            <a:ext cx="9142920" cy="5142600"/>
          </a:xfrm>
          <a:prstGeom prst="rect">
            <a:avLst/>
          </a:prstGeom>
          <a:solidFill>
            <a:srgbClr val="0c1836">
              <a:alpha val="70000"/>
            </a:srgbClr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CustomShape 2"/>
          <p:cNvSpPr/>
          <p:nvPr/>
        </p:nvSpPr>
        <p:spPr>
          <a:xfrm>
            <a:off x="729360" y="800280"/>
            <a:ext cx="2051640" cy="923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Roboto"/>
                <a:ea typeface="Roboto"/>
              </a:rPr>
              <a:t>Thank You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89" name="CustomShape 3"/>
          <p:cNvSpPr/>
          <p:nvPr/>
        </p:nvSpPr>
        <p:spPr>
          <a:xfrm>
            <a:off x="3596040" y="2650680"/>
            <a:ext cx="4838040" cy="213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algn="r">
              <a:lnSpc>
                <a:spcPct val="15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Roboto"/>
                <a:ea typeface="Roboto"/>
              </a:rPr>
              <a:t>Syncoria Inc</a:t>
            </a:r>
            <a:endParaRPr b="0" lang="en-US" sz="1400" spc="-1" strike="noStrike">
              <a:latin typeface="Arial"/>
            </a:endParaRPr>
          </a:p>
          <a:p>
            <a:pPr algn="r">
              <a:lnSpc>
                <a:spcPct val="15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Roboto"/>
                <a:ea typeface="Roboto"/>
              </a:rPr>
              <a:t>1200 Bay St. Suite # 202, Toronto, ON M5R 2A5, Canada</a:t>
            </a:r>
            <a:endParaRPr b="0" lang="en-US" sz="1400" spc="-1" strike="noStrike">
              <a:latin typeface="Arial"/>
            </a:endParaRPr>
          </a:p>
          <a:p>
            <a:pPr algn="r">
              <a:lnSpc>
                <a:spcPct val="15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Roboto"/>
                <a:ea typeface="Roboto"/>
              </a:rPr>
              <a:t>+1416-628-5522</a:t>
            </a:r>
            <a:endParaRPr b="0" lang="en-US" sz="1400" spc="-1" strike="noStrike">
              <a:latin typeface="Arial"/>
            </a:endParaRPr>
          </a:p>
          <a:p>
            <a:pPr algn="r">
              <a:lnSpc>
                <a:spcPct val="15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Roboto"/>
                <a:ea typeface="Roboto"/>
              </a:rPr>
              <a:t>info@syncoria.com</a:t>
            </a:r>
            <a:endParaRPr b="0" lang="en-US" sz="1400" spc="-1" strike="noStrike">
              <a:latin typeface="Arial"/>
            </a:endParaRPr>
          </a:p>
          <a:p>
            <a:pPr algn="r">
              <a:lnSpc>
                <a:spcPct val="15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Roboto"/>
                <a:ea typeface="Roboto"/>
              </a:rPr>
              <a:t>www.syncoria.com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ERGO</dc:creator>
  <dc:description/>
  <dc:language>en-US</dc:language>
  <cp:lastModifiedBy/>
  <dcterms:modified xsi:type="dcterms:W3CDTF">2021-12-29T18:44:44Z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1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7</vt:i4>
  </property>
  <property fmtid="{D5CDD505-2E9C-101B-9397-08002B2CF9AE}" pid="8" name="PresentationFormat">
    <vt:lpwstr>On-screen Show (16:9)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38</vt:i4>
  </property>
</Properties>
</file>